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2349" y="461899"/>
            <a:ext cx="252730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10815319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3239" y="2745159"/>
            <a:ext cx="7605522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IN" b="1" dirty="0"/>
              <a:t>TLS Handshake Visualizer and Vulnerability Scanner</a:t>
            </a:r>
            <a:endParaRPr b="1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57352" y="4876800"/>
            <a:ext cx="4393565" cy="12849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15" dirty="0">
                <a:latin typeface="Calibri"/>
                <a:cs typeface="Calibri"/>
              </a:rPr>
              <a:t>Presented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by:</a:t>
            </a:r>
            <a:endParaRPr lang="en-US" sz="2700" b="1" spc="-5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2700" spc="-5" dirty="0">
                <a:latin typeface="Calibri"/>
                <a:cs typeface="Calibri"/>
              </a:rPr>
              <a:t>P. Ruthish 192224283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2700" spc="-5" dirty="0" err="1">
                <a:latin typeface="Calibri"/>
                <a:cs typeface="Calibri"/>
              </a:rPr>
              <a:t>Devanarayanan</a:t>
            </a:r>
            <a:r>
              <a:rPr lang="en-US" sz="2700" spc="-5" dirty="0">
                <a:latin typeface="Calibri"/>
                <a:cs typeface="Calibri"/>
              </a:rPr>
              <a:t> J 192524314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0DA7B4-8113-0342-E6C5-24BC7FFDDF87}"/>
              </a:ext>
            </a:extLst>
          </p:cNvPr>
          <p:cNvSpPr txBox="1"/>
          <p:nvPr/>
        </p:nvSpPr>
        <p:spPr>
          <a:xfrm>
            <a:off x="3505200" y="401426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CAPSTONE PROJECT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9600" y="517804"/>
            <a:ext cx="394182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/>
              <a:t>INTRODUCTION</a:t>
            </a:r>
            <a:endParaRPr b="1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2286000"/>
            <a:ext cx="10972800" cy="378180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IN" sz="2400" dirty="0"/>
              <a:t>TLS (Transport Layer Security) is widely used to provide secure communication between web browsers, servers, and other network applications.</a:t>
            </a:r>
          </a:p>
          <a:p>
            <a:pPr marL="355600" indent="-34290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IN" sz="2400" dirty="0"/>
              <a:t>The TLS handshake establishes a secure connection by negotiating protocol versions, cipher suites, certificates, and cryptographic parameters.</a:t>
            </a:r>
          </a:p>
          <a:p>
            <a:pPr marL="355600" indent="-34290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IN" sz="2400" dirty="0"/>
              <a:t>Weak TLS configurations, outdated protocol versions, insecure cipher suites, and invalid certificates can create security risks.</a:t>
            </a:r>
          </a:p>
          <a:p>
            <a:pPr marL="355600" indent="-34290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IN" sz="2400" dirty="0"/>
              <a:t>The </a:t>
            </a:r>
            <a:r>
              <a:rPr lang="en-IN" sz="2400" b="1" dirty="0"/>
              <a:t>TLS Handshake Visualizer and Vulnerability Scanner</a:t>
            </a:r>
            <a:r>
              <a:rPr lang="en-IN" sz="2400" dirty="0"/>
              <a:t> </a:t>
            </a:r>
            <a:r>
              <a:rPr lang="en-IN" sz="2400" dirty="0" err="1"/>
              <a:t>analyzes</a:t>
            </a:r>
            <a:r>
              <a:rPr lang="en-IN" sz="2400" dirty="0"/>
              <a:t> TLS connections, visually presents the handshake process, detects security weaknesses, and generates security assessment results.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E9A45-0D7D-F368-3648-2935A702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091B6F-4C4A-462A-90F6-19C576554D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24974" y="517804"/>
            <a:ext cx="547799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5" dirty="0"/>
              <a:t>PROBLEM STATEMENT</a:t>
            </a:r>
            <a:endParaRPr b="1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3B9DB9F-2CA1-16E4-BECC-8CAB1B35295C}"/>
              </a:ext>
            </a:extLst>
          </p:cNvPr>
          <p:cNvSpPr txBox="1"/>
          <p:nvPr/>
        </p:nvSpPr>
        <p:spPr>
          <a:xfrm>
            <a:off x="535940" y="1981200"/>
            <a:ext cx="11656060" cy="454355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r>
              <a:rPr lang="en-IN" sz="2400" b="1" dirty="0"/>
              <a:t>Problem</a:t>
            </a:r>
          </a:p>
          <a:p>
            <a:r>
              <a:rPr lang="en-IN" sz="2400" dirty="0"/>
              <a:t>TLS handshakes involve multiple cryptographic operations and message exchanges that can be difficult to understand and </a:t>
            </a:r>
            <a:r>
              <a:rPr lang="en-IN" sz="2400" dirty="0" err="1"/>
              <a:t>analyze</a:t>
            </a:r>
            <a:r>
              <a:rPr lang="en-IN" sz="2400" dirty="0"/>
              <a:t>.</a:t>
            </a:r>
          </a:p>
          <a:p>
            <a:r>
              <a:rPr lang="en-IN" sz="2400" dirty="0"/>
              <a:t>Servers may also use outdated TLS versions, weak cipher suites, expired certificates, or insecure configurations.</a:t>
            </a:r>
          </a:p>
          <a:p>
            <a:r>
              <a:rPr lang="en-IN" sz="2400" b="1" dirty="0"/>
              <a:t>Existing System</a:t>
            </a:r>
          </a:p>
          <a:p>
            <a:r>
              <a:rPr lang="en-IN" sz="2400" dirty="0"/>
              <a:t>Existing TLS analysis and vulnerability scanning tools often provide highly technical results.</a:t>
            </a:r>
          </a:p>
          <a:p>
            <a:r>
              <a:rPr lang="en-IN" sz="2400" dirty="0"/>
              <a:t>Understanding handshake operations and interpreting TLS security problems may require networking and cybersecurity expertise.</a:t>
            </a:r>
          </a:p>
          <a:p>
            <a:r>
              <a:rPr lang="en-IN" sz="2400" b="1" dirty="0"/>
              <a:t>Proposed Solution</a:t>
            </a:r>
          </a:p>
          <a:p>
            <a:r>
              <a:rPr lang="en-IN" sz="2400" dirty="0"/>
              <a:t>Develop a </a:t>
            </a:r>
            <a:r>
              <a:rPr lang="en-IN" sz="2400" b="1" dirty="0"/>
              <a:t>TLS Handshake Visualizer and Vulnerability Scanner</a:t>
            </a:r>
            <a:r>
              <a:rPr lang="en-IN" sz="2400" dirty="0"/>
              <a:t> to </a:t>
            </a:r>
            <a:r>
              <a:rPr lang="en-IN" sz="2400" dirty="0" err="1"/>
              <a:t>analyze</a:t>
            </a:r>
            <a:r>
              <a:rPr lang="en-IN" sz="2400" dirty="0"/>
              <a:t> TLS-enabled servers.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BECAE96-F7E3-F4D5-1CFC-E65C1DC7F6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755A0E8-EC89-FBD4-A9EE-F04F384978C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524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9200" y="514793"/>
            <a:ext cx="33528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/>
              <a:t>OBJECTIVES</a:t>
            </a:r>
            <a:endParaRPr b="1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2438400"/>
            <a:ext cx="11345925" cy="318933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/>
              <a:t>To develop a TLS handshake analysis system that connects to a target server and identifies important TLS parameters such as protocol version, cipher suite, certificate details, and handshake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To develop a vulnerability scanner that identifies weak TLS versions, insecure cipher suites, certificate-related problems, and configuration weaknesses while providing severity classification, security scores, and remediation recommendations.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029" y="461899"/>
            <a:ext cx="71520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Literature</a:t>
            </a:r>
            <a:r>
              <a:rPr spc="-5" dirty="0"/>
              <a:t> </a:t>
            </a:r>
            <a:r>
              <a:rPr spc="-25" dirty="0"/>
              <a:t>Review</a:t>
            </a:r>
            <a:r>
              <a:rPr spc="-20" dirty="0"/>
              <a:t> </a:t>
            </a:r>
            <a:r>
              <a:rPr dirty="0"/>
              <a:t>/</a:t>
            </a:r>
            <a:r>
              <a:rPr spc="-10" dirty="0"/>
              <a:t> Background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66B412-6914-B1D4-4861-D778B8323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893240"/>
              </p:ext>
            </p:extLst>
          </p:nvPr>
        </p:nvGraphicFramePr>
        <p:xfrm>
          <a:off x="1460935" y="1534540"/>
          <a:ext cx="9130865" cy="4861560"/>
        </p:xfrm>
        <a:graphic>
          <a:graphicData uri="http://schemas.openxmlformats.org/drawingml/2006/table">
            <a:tbl>
              <a:tblPr/>
              <a:tblGrid>
                <a:gridCol w="1834390">
                  <a:extLst>
                    <a:ext uri="{9D8B030D-6E8A-4147-A177-3AD203B41FA5}">
                      <a16:colId xmlns:a16="http://schemas.microsoft.com/office/drawing/2014/main" val="587045723"/>
                    </a:ext>
                  </a:extLst>
                </a:gridCol>
                <a:gridCol w="1834390">
                  <a:extLst>
                    <a:ext uri="{9D8B030D-6E8A-4147-A177-3AD203B41FA5}">
                      <a16:colId xmlns:a16="http://schemas.microsoft.com/office/drawing/2014/main" val="1753775686"/>
                    </a:ext>
                  </a:extLst>
                </a:gridCol>
                <a:gridCol w="1834390">
                  <a:extLst>
                    <a:ext uri="{9D8B030D-6E8A-4147-A177-3AD203B41FA5}">
                      <a16:colId xmlns:a16="http://schemas.microsoft.com/office/drawing/2014/main" val="274849827"/>
                    </a:ext>
                  </a:extLst>
                </a:gridCol>
                <a:gridCol w="1834390">
                  <a:extLst>
                    <a:ext uri="{9D8B030D-6E8A-4147-A177-3AD203B41FA5}">
                      <a16:colId xmlns:a16="http://schemas.microsoft.com/office/drawing/2014/main" val="1218815339"/>
                    </a:ext>
                  </a:extLst>
                </a:gridCol>
                <a:gridCol w="1793305">
                  <a:extLst>
                    <a:ext uri="{9D8B030D-6E8A-4147-A177-3AD203B41FA5}">
                      <a16:colId xmlns:a16="http://schemas.microsoft.com/office/drawing/2014/main" val="3237399117"/>
                    </a:ext>
                  </a:extLst>
                </a:gridCol>
              </a:tblGrid>
              <a:tr h="471308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637425"/>
                  </a:ext>
                </a:extLst>
              </a:tr>
              <a:tr h="1187028">
                <a:tc>
                  <a:txBody>
                    <a:bodyPr/>
                    <a:lstStyle/>
                    <a:p>
                      <a:r>
                        <a:rPr lang="en-IN" sz="1400" b="1" dirty="0"/>
                        <a:t>Research Paper 1</a:t>
                      </a:r>
                      <a:endParaRPr lang="nl-NL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TLS Security Analysis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Identifies TLS configuration weaknesses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Requires technical knowledge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501024"/>
                  </a:ext>
                </a:extLst>
              </a:tr>
              <a:tr h="1187028">
                <a:tc>
                  <a:txBody>
                    <a:bodyPr/>
                    <a:lstStyle/>
                    <a:p>
                      <a:r>
                        <a:rPr lang="en-IN" sz="1400" b="1" dirty="0"/>
                        <a:t>Research Paper 2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TLS Vulnerability Detection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Detects insecure TLS configurations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May require multiple scanning tools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923078"/>
                  </a:ext>
                </a:extLst>
              </a:tr>
              <a:tr h="1187028">
                <a:tc>
                  <a:txBody>
                    <a:bodyPr/>
                    <a:lstStyle/>
                    <a:p>
                      <a:r>
                        <a:rPr lang="en-IN" sz="1400" b="1" dirty="0"/>
                        <a:t>Research Paper 3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SSL/TLS Certificate Security Analysis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Identifies certificate security problems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Mainly focuses on certificates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292767"/>
                  </a:ext>
                </a:extLst>
              </a:tr>
              <a:tr h="829168">
                <a:tc>
                  <a:txBody>
                    <a:bodyPr/>
                    <a:lstStyle/>
                    <a:p>
                      <a:r>
                        <a:rPr lang="en-IN" sz="1400" b="1" dirty="0"/>
                        <a:t>Research Paper 4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Analysis of TLS Handshake Security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Provides detailed handshake analysis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Complex for non-technical users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482" marR="43482" marT="21741" marB="21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919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6064" y="461899"/>
            <a:ext cx="65843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5" dirty="0"/>
              <a:t>SYSTEM ARCHITECTURE</a:t>
            </a:r>
            <a:endParaRPr b="1" spc="-1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CE7480-A1D5-3C00-B3C7-07BC27E2B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192022"/>
            <a:ext cx="7917232" cy="5553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7294" y="461899"/>
            <a:ext cx="36772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/>
              <a:t>MODULE 1</a:t>
            </a:r>
            <a:endParaRPr b="1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79551" y="1456021"/>
            <a:ext cx="11039474" cy="5259131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dirty="0"/>
              <a:t>Establish a TLS connection with the target server and collect important TLS handshake information.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IN" dirty="0"/>
              <a:t>Accept domain name or server address from the user.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IN" dirty="0"/>
              <a:t>Validate target hostname and connection availability.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IN" dirty="0"/>
              <a:t>Establish a TLS connection with the target server.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IN" dirty="0"/>
              <a:t>Capture TLS protocol and handshake information.</a:t>
            </a:r>
          </a:p>
          <a:p>
            <a:pPr marL="12700"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IN" dirty="0"/>
              <a:t>Identify the negotiated TLS version.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IN" dirty="0"/>
              <a:t>Identify the selected cipher suite.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IN" dirty="0"/>
              <a:t>Collect handshake timing and connection information.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IN" dirty="0"/>
              <a:t>TLS connection status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IN" dirty="0"/>
              <a:t>TLS protocol version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IN" dirty="0"/>
              <a:t>Negotiated cipher suite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6820" y="466488"/>
            <a:ext cx="46583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/>
              <a:t>MODULE 2</a:t>
            </a:r>
            <a:endParaRPr b="1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568809"/>
            <a:ext cx="5334000" cy="431592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IN" dirty="0"/>
              <a:t>Present the TLS handshake process in an easy-to-understand visual format.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>
              <a:lnSpc>
                <a:spcPct val="150000"/>
              </a:lnSpc>
            </a:pPr>
            <a:r>
              <a:rPr lang="en-IN" dirty="0"/>
              <a:t>Process the collected TLS handshake information.</a:t>
            </a:r>
          </a:p>
          <a:p>
            <a:pPr>
              <a:lnSpc>
                <a:spcPct val="150000"/>
              </a:lnSpc>
            </a:pPr>
            <a:r>
              <a:rPr lang="en-IN" dirty="0"/>
              <a:t>Identify important stages of the handshake.</a:t>
            </a:r>
          </a:p>
          <a:p>
            <a:pPr>
              <a:lnSpc>
                <a:spcPct val="150000"/>
              </a:lnSpc>
            </a:pPr>
            <a:r>
              <a:rPr lang="en-IN" dirty="0"/>
              <a:t>Display communication between client and server.</a:t>
            </a:r>
          </a:p>
          <a:p>
            <a:pPr>
              <a:lnSpc>
                <a:spcPct val="150000"/>
              </a:lnSpc>
            </a:pPr>
            <a:r>
              <a:rPr lang="en-IN" dirty="0"/>
              <a:t>Visualize certificate exchange and cryptographic negotiation.</a:t>
            </a:r>
          </a:p>
          <a:p>
            <a:pPr>
              <a:lnSpc>
                <a:spcPct val="150000"/>
              </a:lnSpc>
            </a:pPr>
            <a:r>
              <a:rPr lang="en-IN" dirty="0"/>
              <a:t>Display negotiated protocol version and cipher suite.</a:t>
            </a:r>
          </a:p>
          <a:p>
            <a:pPr>
              <a:lnSpc>
                <a:spcPct val="150000"/>
              </a:lnSpc>
            </a:pPr>
            <a:r>
              <a:rPr lang="en-IN" dirty="0"/>
              <a:t>Show successful and failed handshake stages.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B8AEB7-7D49-C8A7-6C1A-5279251193B0}"/>
              </a:ext>
            </a:extLst>
          </p:cNvPr>
          <p:cNvSpPr txBox="1"/>
          <p:nvPr/>
        </p:nvSpPr>
        <p:spPr>
          <a:xfrm>
            <a:off x="6705600" y="1878364"/>
            <a:ext cx="3246530" cy="2423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12700">
              <a:lnSpc>
                <a:spcPct val="15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lang="en-US" dirty="0"/>
              <a:t>TLS handshake flow visualization</a:t>
            </a:r>
            <a:br>
              <a:rPr lang="en-US" dirty="0"/>
            </a:br>
            <a:r>
              <a:rPr lang="en-US" dirty="0"/>
              <a:t>Client-server message sequence</a:t>
            </a:r>
            <a:br>
              <a:rPr lang="en-US" dirty="0"/>
            </a:br>
            <a:r>
              <a:rPr lang="en-US" dirty="0"/>
              <a:t>Protocol and cipher information</a:t>
            </a:r>
            <a:br>
              <a:rPr lang="en-US" dirty="0"/>
            </a:br>
            <a:r>
              <a:rPr lang="en-US" dirty="0"/>
              <a:t>Handshake status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9600" y="502495"/>
            <a:ext cx="56102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/>
              <a:t>MODULE 3</a:t>
            </a:r>
            <a:endParaRPr b="1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534540"/>
            <a:ext cx="6248400" cy="4639089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Objective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Analyze</a:t>
            </a:r>
            <a:r>
              <a:rPr lang="en-IN" dirty="0"/>
              <a:t> TLS configuration and identify potential security vulnerabilities.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Functions</a:t>
            </a:r>
          </a:p>
          <a:p>
            <a:pPr>
              <a:lnSpc>
                <a:spcPct val="150000"/>
              </a:lnSpc>
            </a:pPr>
            <a:r>
              <a:rPr lang="en-IN" dirty="0"/>
              <a:t>Detect outdated or insecure TLS versions.</a:t>
            </a:r>
          </a:p>
          <a:p>
            <a:pPr>
              <a:lnSpc>
                <a:spcPct val="150000"/>
              </a:lnSpc>
            </a:pPr>
            <a:r>
              <a:rPr lang="en-IN" dirty="0"/>
              <a:t>Identify weak or insecure cipher suites.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Analyze</a:t>
            </a:r>
            <a:r>
              <a:rPr lang="en-IN" dirty="0"/>
              <a:t> server certificate information.</a:t>
            </a:r>
          </a:p>
          <a:p>
            <a:pPr>
              <a:lnSpc>
                <a:spcPct val="150000"/>
              </a:lnSpc>
            </a:pPr>
            <a:r>
              <a:rPr lang="en-IN" dirty="0"/>
              <a:t>Check certificate validity and expiration.</a:t>
            </a:r>
          </a:p>
          <a:p>
            <a:pPr>
              <a:lnSpc>
                <a:spcPct val="150000"/>
              </a:lnSpc>
            </a:pPr>
            <a:r>
              <a:rPr lang="en-IN" dirty="0"/>
              <a:t>Check certificate hostname information.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Analyze</a:t>
            </a:r>
            <a:r>
              <a:rPr lang="en-IN" dirty="0"/>
              <a:t> cryptographic key parameters.</a:t>
            </a:r>
          </a:p>
          <a:p>
            <a:pPr>
              <a:lnSpc>
                <a:spcPct val="150000"/>
              </a:lnSpc>
            </a:pPr>
            <a:r>
              <a:rPr lang="en-IN" dirty="0"/>
              <a:t>Classify identified vulnerabilities based on severity.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499982-69C8-F44F-C1D2-94D8C4E4F385}"/>
              </a:ext>
            </a:extLst>
          </p:cNvPr>
          <p:cNvSpPr txBox="1"/>
          <p:nvPr/>
        </p:nvSpPr>
        <p:spPr>
          <a:xfrm>
            <a:off x="7224712" y="2057400"/>
            <a:ext cx="4300601" cy="4619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Output</a:t>
            </a:r>
          </a:p>
          <a:p>
            <a:pPr>
              <a:lnSpc>
                <a:spcPct val="150000"/>
              </a:lnSpc>
            </a:pPr>
            <a:r>
              <a:rPr lang="en-IN" dirty="0"/>
              <a:t>List of TLS vulnerabilities</a:t>
            </a:r>
            <a:br>
              <a:rPr lang="en-IN" dirty="0"/>
            </a:br>
            <a:r>
              <a:rPr lang="en-IN" dirty="0"/>
              <a:t>Certificate security status</a:t>
            </a:r>
            <a:br>
              <a:rPr lang="en-IN" dirty="0"/>
            </a:br>
            <a:r>
              <a:rPr lang="en-IN" dirty="0"/>
              <a:t>Severity levels – Low, Medium, High, Critical</a:t>
            </a:r>
            <a:br>
              <a:rPr lang="en-IN" dirty="0"/>
            </a:br>
            <a:r>
              <a:rPr lang="en-IN" dirty="0"/>
              <a:t>TLS configuration assessment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TLS security score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Security recommendations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Security assessment report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Scan history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3400" y="381000"/>
            <a:ext cx="407441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C</a:t>
            </a:r>
            <a:r>
              <a:rPr lang="en-US" b="1" spc="-5" dirty="0"/>
              <a:t>ONCLUSION</a:t>
            </a:r>
            <a:endParaRPr b="1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F79472-3299-9400-70CC-9DB57545E8AA}"/>
              </a:ext>
            </a:extLst>
          </p:cNvPr>
          <p:cNvSpPr txBox="1"/>
          <p:nvPr/>
        </p:nvSpPr>
        <p:spPr>
          <a:xfrm>
            <a:off x="1142326" y="1905000"/>
            <a:ext cx="9906837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</a:t>
            </a:r>
            <a:r>
              <a:rPr lang="en-IN" sz="2000" b="1" dirty="0"/>
              <a:t>TLS Handshake Visualizer and Vulnerability Scanner</a:t>
            </a:r>
            <a:r>
              <a:rPr lang="en-IN" sz="2000" dirty="0"/>
              <a:t> provides an automated and user-friendly approach for understanding and </a:t>
            </a:r>
            <a:r>
              <a:rPr lang="en-IN" sz="2000" dirty="0" err="1"/>
              <a:t>analyzing</a:t>
            </a:r>
            <a:r>
              <a:rPr lang="en-IN" sz="2000" dirty="0"/>
              <a:t> TLS connections.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It helps identify security risks such as outdated TLS versions, weak cipher suites, certificate problems, and insecure server configurations.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system combines </a:t>
            </a:r>
            <a:r>
              <a:rPr lang="en-IN" sz="2000" b="1" dirty="0"/>
              <a:t>TLS handshake visualization and vulnerability scanning</a:t>
            </a:r>
            <a:r>
              <a:rPr lang="en-IN" sz="2000" dirty="0"/>
              <a:t>, helping users understand secure communication while identifying potential TLS security weaknesses.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This follows the presentation style of your reference, whose modules are structured using </a:t>
            </a:r>
            <a:r>
              <a:rPr lang="en-IN" sz="2000" b="1" dirty="0"/>
              <a:t>Objective → Functions → Output</a:t>
            </a:r>
            <a:r>
              <a:rPr lang="en-IN" sz="2000" dirty="0"/>
              <a:t> and conclude with the project's overall security benefit.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07619-A665-2E88-C822-EAA86A580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E71091-E655-8C36-21AB-C567C988B2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5800" y="2971800"/>
            <a:ext cx="3886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/>
              <a:t>THANK YOU</a:t>
            </a:r>
            <a:endParaRPr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8F23EEF-2E40-9207-803B-E427BA3D1D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E442FAE-06C6-246D-8433-E03A3367A62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73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682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MT</vt:lpstr>
      <vt:lpstr>Calibri</vt:lpstr>
      <vt:lpstr>Times New Roman</vt:lpstr>
      <vt:lpstr>Office Theme</vt:lpstr>
      <vt:lpstr>TLS Handshake Visualizer and Vulnerability Scanner</vt:lpstr>
      <vt:lpstr>INTRODUCTION</vt:lpstr>
      <vt:lpstr>PROBLEM STATEMENT</vt:lpstr>
      <vt:lpstr>OBJECTIVES</vt:lpstr>
      <vt:lpstr>Literature Review / Background</vt:lpstr>
      <vt:lpstr>SYSTEM ARCHITECTURE</vt:lpstr>
      <vt:lpstr>MODULE 1</vt:lpstr>
      <vt:lpstr>MODULE 2</vt:lpstr>
      <vt:lpstr>MODULE 3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ruthish peddagani</cp:lastModifiedBy>
  <cp:revision>8</cp:revision>
  <dcterms:created xsi:type="dcterms:W3CDTF">2025-03-19T13:35:36Z</dcterms:created>
  <dcterms:modified xsi:type="dcterms:W3CDTF">2026-09-04T12:41:32Z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2025-03-19T00:00:00Z</vt:filetime>
  </property>
</Properties>
</file>