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79300" cy="6858000"/>
  <p:notesSz cx="121793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5EE3-08AB-5CFA-C5C9-0AA3FCC7F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2413" y="1122363"/>
            <a:ext cx="9134475" cy="2387600"/>
          </a:xfrm>
        </p:spPr>
        <p:txBody>
          <a:bodyPr anchor="b"/>
          <a:lstStyle>
            <a:lvl1pPr algn="ctr">
              <a:defRPr sz="599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17EDFE-EEA2-3484-9D7F-AB762FC9B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2413" y="3602038"/>
            <a:ext cx="9134475" cy="1655762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743" indent="0" algn="ctr">
              <a:buNone/>
              <a:defRPr sz="1998"/>
            </a:lvl2pPr>
            <a:lvl3pPr marL="913486" indent="0" algn="ctr">
              <a:buNone/>
              <a:defRPr sz="1798"/>
            </a:lvl3pPr>
            <a:lvl4pPr marL="1370228" indent="0" algn="ctr">
              <a:buNone/>
              <a:defRPr sz="1598"/>
            </a:lvl4pPr>
            <a:lvl5pPr marL="1826971" indent="0" algn="ctr">
              <a:buNone/>
              <a:defRPr sz="1598"/>
            </a:lvl5pPr>
            <a:lvl6pPr marL="2283714" indent="0" algn="ctr">
              <a:buNone/>
              <a:defRPr sz="1598"/>
            </a:lvl6pPr>
            <a:lvl7pPr marL="2740457" indent="0" algn="ctr">
              <a:buNone/>
              <a:defRPr sz="1598"/>
            </a:lvl7pPr>
            <a:lvl8pPr marL="3197200" indent="0" algn="ctr">
              <a:buNone/>
              <a:defRPr sz="1598"/>
            </a:lvl8pPr>
            <a:lvl9pPr marL="3653942" indent="0" algn="ctr">
              <a:buNone/>
              <a:defRPr sz="1598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4F101-C5FE-E13E-0DED-B4D11FA0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0A1D-CC0D-3EE7-6460-D6FB0A73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2DFA8-1243-B9B5-CA55-790067288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559653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58D81-56AA-B031-3837-36266B81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F8412-D13C-6E91-E69E-BB2392F09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34147-EB9B-99CB-63D7-5563ED622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16481-05B3-E037-4BE9-F00132A89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41AE5-6114-7600-7DA6-7EF241611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9153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7E67-3D11-3430-20B6-EAC12450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84" y="1709739"/>
            <a:ext cx="10504646" cy="2852737"/>
          </a:xfrm>
        </p:spPr>
        <p:txBody>
          <a:bodyPr anchor="b"/>
          <a:lstStyle>
            <a:lvl1pPr>
              <a:defRPr sz="5994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3DC53-3BE1-EC4A-CCB1-74E088F95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984" y="4589464"/>
            <a:ext cx="10504646" cy="1500187"/>
          </a:xfrm>
        </p:spPr>
        <p:txBody>
          <a:bodyPr/>
          <a:lstStyle>
            <a:lvl1pPr marL="0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1pPr>
            <a:lvl2pPr marL="456743" indent="0">
              <a:buNone/>
              <a:defRPr sz="1998">
                <a:solidFill>
                  <a:schemeClr val="tx1">
                    <a:tint val="75000"/>
                  </a:schemeClr>
                </a:solidFill>
              </a:defRPr>
            </a:lvl2pPr>
            <a:lvl3pPr marL="913486" indent="0">
              <a:buNone/>
              <a:defRPr sz="1798">
                <a:solidFill>
                  <a:schemeClr val="tx1">
                    <a:tint val="75000"/>
                  </a:schemeClr>
                </a:solidFill>
              </a:defRPr>
            </a:lvl3pPr>
            <a:lvl4pPr marL="137022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6971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3714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0457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720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3942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C2704-9715-9BCC-4193-CB7CA21D4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81315-6DCB-9EAF-3062-05BB40ADE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592AE-6A59-323F-63C5-4E1373C00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805402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1E50F-40B2-226A-179F-55B158410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E3B66-AE2A-9C8B-AE0A-A9A211149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7327" y="1825625"/>
            <a:ext cx="517620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04AD6-B1C0-490E-F865-9DE869C8F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65770" y="1825625"/>
            <a:ext cx="517620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36344-E42C-C6C7-1AC0-C9D293883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8D48D1-C586-4B99-998D-FF8E2D42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B283C-AC1A-319C-6A2E-727BF46C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3218430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C0BE9-31FF-B1B2-64BA-8BEE9F80D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13" y="365126"/>
            <a:ext cx="1050464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ED49E-7F8E-6785-DFC6-2D4AB49A1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914" y="1681163"/>
            <a:ext cx="5152414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2CD76-B88B-5BA6-4D2D-C7BB3F18E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914" y="2505075"/>
            <a:ext cx="515241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C9811-5657-BA8C-64D2-29BB8DE421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5771" y="1681163"/>
            <a:ext cx="5177789" cy="823912"/>
          </a:xfrm>
        </p:spPr>
        <p:txBody>
          <a:bodyPr anchor="b"/>
          <a:lstStyle>
            <a:lvl1pPr marL="0" indent="0">
              <a:buNone/>
              <a:defRPr sz="2398" b="1"/>
            </a:lvl1pPr>
            <a:lvl2pPr marL="456743" indent="0">
              <a:buNone/>
              <a:defRPr sz="1998" b="1"/>
            </a:lvl2pPr>
            <a:lvl3pPr marL="913486" indent="0">
              <a:buNone/>
              <a:defRPr sz="1798" b="1"/>
            </a:lvl3pPr>
            <a:lvl4pPr marL="1370228" indent="0">
              <a:buNone/>
              <a:defRPr sz="1598" b="1"/>
            </a:lvl4pPr>
            <a:lvl5pPr marL="1826971" indent="0">
              <a:buNone/>
              <a:defRPr sz="1598" b="1"/>
            </a:lvl5pPr>
            <a:lvl6pPr marL="2283714" indent="0">
              <a:buNone/>
              <a:defRPr sz="1598" b="1"/>
            </a:lvl6pPr>
            <a:lvl7pPr marL="2740457" indent="0">
              <a:buNone/>
              <a:defRPr sz="1598" b="1"/>
            </a:lvl7pPr>
            <a:lvl8pPr marL="3197200" indent="0">
              <a:buNone/>
              <a:defRPr sz="1598" b="1"/>
            </a:lvl8pPr>
            <a:lvl9pPr marL="3653942" indent="0">
              <a:buNone/>
              <a:defRPr sz="15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2A8A83-48B2-3A5A-EAFB-E89E8EC777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5771" y="2505075"/>
            <a:ext cx="517778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B5856-2345-9566-C395-DC3A51B8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BE78F-D530-2A32-5E07-104AABE7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1F3036-377B-DF00-9663-8D9D7043A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85586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C5102-29B0-4D54-7170-E648C76E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A0D41-E455-ECAC-2B54-5D5055DB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40BA6-C07E-844A-6BCB-CC7E4CEE5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FCB01-BD53-BFCB-C5E7-D80AA9D3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85884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5B1310-1A06-97D7-E92C-3EC2BFDC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54669-73E6-43C0-0549-95CE2208D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AFEB9-6982-22A6-46B1-D44BA79A9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00719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BC18-D40A-47C4-29FC-F551C1BA1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14" y="457200"/>
            <a:ext cx="3928141" cy="1600200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E80A-E80A-0189-BFBE-6203EB2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7789" y="987426"/>
            <a:ext cx="6165771" cy="4873625"/>
          </a:xfrm>
        </p:spPr>
        <p:txBody>
          <a:bodyPr/>
          <a:lstStyle>
            <a:lvl1pPr>
              <a:defRPr sz="3197"/>
            </a:lvl1pPr>
            <a:lvl2pPr>
              <a:defRPr sz="2797"/>
            </a:lvl2pPr>
            <a:lvl3pPr>
              <a:defRPr sz="2398"/>
            </a:lvl3pPr>
            <a:lvl4pPr>
              <a:defRPr sz="1998"/>
            </a:lvl4pPr>
            <a:lvl5pPr>
              <a:defRPr sz="1998"/>
            </a:lvl5pPr>
            <a:lvl6pPr>
              <a:defRPr sz="1998"/>
            </a:lvl6pPr>
            <a:lvl7pPr>
              <a:defRPr sz="1998"/>
            </a:lvl7pPr>
            <a:lvl8pPr>
              <a:defRPr sz="1998"/>
            </a:lvl8pPr>
            <a:lvl9pPr>
              <a:defRPr sz="19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39544-916B-097A-3F43-0ECE24BEF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914" y="2057400"/>
            <a:ext cx="3928141" cy="3811588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29FD0-FC05-7876-8352-C82C59E5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FD4B1-CA85-B88F-E0E1-DD3B4142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3D09F-C728-6073-DED9-602B6FFD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60927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9080-5C50-2DDB-6BEF-9847D497C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14" y="457200"/>
            <a:ext cx="3928141" cy="1600200"/>
          </a:xfrm>
        </p:spPr>
        <p:txBody>
          <a:bodyPr anchor="b"/>
          <a:lstStyle>
            <a:lvl1pPr>
              <a:defRPr sz="3197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3A03B-370C-416D-506D-904EFC76D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77789" y="987426"/>
            <a:ext cx="6165771" cy="4873625"/>
          </a:xfrm>
        </p:spPr>
        <p:txBody>
          <a:bodyPr/>
          <a:lstStyle>
            <a:lvl1pPr marL="0" indent="0">
              <a:buNone/>
              <a:defRPr sz="3197"/>
            </a:lvl1pPr>
            <a:lvl2pPr marL="456743" indent="0">
              <a:buNone/>
              <a:defRPr sz="2797"/>
            </a:lvl2pPr>
            <a:lvl3pPr marL="913486" indent="0">
              <a:buNone/>
              <a:defRPr sz="2398"/>
            </a:lvl3pPr>
            <a:lvl4pPr marL="1370228" indent="0">
              <a:buNone/>
              <a:defRPr sz="1998"/>
            </a:lvl4pPr>
            <a:lvl5pPr marL="1826971" indent="0">
              <a:buNone/>
              <a:defRPr sz="1998"/>
            </a:lvl5pPr>
            <a:lvl6pPr marL="2283714" indent="0">
              <a:buNone/>
              <a:defRPr sz="1998"/>
            </a:lvl6pPr>
            <a:lvl7pPr marL="2740457" indent="0">
              <a:buNone/>
              <a:defRPr sz="1998"/>
            </a:lvl7pPr>
            <a:lvl8pPr marL="3197200" indent="0">
              <a:buNone/>
              <a:defRPr sz="1998"/>
            </a:lvl8pPr>
            <a:lvl9pPr marL="3653942" indent="0">
              <a:buNone/>
              <a:defRPr sz="1998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CDF27-FAAD-3E05-75B4-EA0A7DD1C6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914" y="2057400"/>
            <a:ext cx="3928141" cy="3811588"/>
          </a:xfrm>
        </p:spPr>
        <p:txBody>
          <a:bodyPr/>
          <a:lstStyle>
            <a:lvl1pPr marL="0" indent="0">
              <a:buNone/>
              <a:defRPr sz="1598"/>
            </a:lvl1pPr>
            <a:lvl2pPr marL="456743" indent="0">
              <a:buNone/>
              <a:defRPr sz="1399"/>
            </a:lvl2pPr>
            <a:lvl3pPr marL="913486" indent="0">
              <a:buNone/>
              <a:defRPr sz="1199"/>
            </a:lvl3pPr>
            <a:lvl4pPr marL="1370228" indent="0">
              <a:buNone/>
              <a:defRPr sz="999"/>
            </a:lvl4pPr>
            <a:lvl5pPr marL="1826971" indent="0">
              <a:buNone/>
              <a:defRPr sz="999"/>
            </a:lvl5pPr>
            <a:lvl6pPr marL="2283714" indent="0">
              <a:buNone/>
              <a:defRPr sz="999"/>
            </a:lvl6pPr>
            <a:lvl7pPr marL="2740457" indent="0">
              <a:buNone/>
              <a:defRPr sz="999"/>
            </a:lvl7pPr>
            <a:lvl8pPr marL="3197200" indent="0">
              <a:buNone/>
              <a:defRPr sz="999"/>
            </a:lvl8pPr>
            <a:lvl9pPr marL="3653942" indent="0">
              <a:buNone/>
              <a:defRPr sz="99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ABCF5D-A311-5C75-013B-78A86A66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4323B-7F28-51D8-B18B-9EA6E8088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103AD-FA9C-4699-A6E0-73F320873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613198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DA2A-9592-5F71-6D9E-2165BD90A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62FD82-2D92-7800-29AF-1EB221774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C1BF4-AFB1-FA7A-94E4-7BE8C9704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0A778-A49A-3B48-DE32-9EAD0175D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840CF-0671-424B-0F27-CD5E5454F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1075655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8D848F-FD64-D299-0D54-C1855F6246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15811" y="365125"/>
            <a:ext cx="262616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7306DA-4C99-0816-D462-C8D62237F6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7327" y="365125"/>
            <a:ext cx="772624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812D4-7414-1BD7-B752-893C7470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203B5-5557-BCCD-CFE2-E7B02A52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86060-1597-356F-8637-53C3916E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2020268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01AAA0-D17D-02CB-295C-0F980FD8B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327" y="365126"/>
            <a:ext cx="1050464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BE416-3E5B-2C1C-503A-3D18FB16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7327" y="1825625"/>
            <a:ext cx="1050464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7EAAF-6CA5-0D9C-B4CB-01310D3AA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7327" y="6356351"/>
            <a:ext cx="274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A0E3E-B9CE-ADCD-27BA-E97BE1BA3D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4393" y="6356351"/>
            <a:ext cx="41105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ts val="955"/>
              </a:lnSpc>
            </a:pPr>
            <a:r>
              <a:rPr lang="en-IN"/>
              <a:t>CSA5110</a:t>
            </a:r>
            <a:r>
              <a:rPr lang="en-IN" spc="-15"/>
              <a:t> </a:t>
            </a:r>
            <a:r>
              <a:rPr lang="en-IN"/>
              <a:t>·</a:t>
            </a:r>
            <a:r>
              <a:rPr lang="en-IN" spc="-10"/>
              <a:t> Cryptography</a:t>
            </a:r>
            <a:r>
              <a:rPr lang="en-IN" spc="-15"/>
              <a:t> </a:t>
            </a:r>
            <a:r>
              <a:rPr lang="en-IN"/>
              <a:t>&amp;</a:t>
            </a:r>
            <a:r>
              <a:rPr lang="en-IN" spc="-10"/>
              <a:t> </a:t>
            </a:r>
            <a:r>
              <a:rPr lang="en-IN"/>
              <a:t>Network</a:t>
            </a:r>
            <a:r>
              <a:rPr lang="en-IN" spc="-15"/>
              <a:t> </a:t>
            </a:r>
            <a:r>
              <a:rPr lang="en-IN" spc="-10"/>
              <a:t>Security</a:t>
            </a:r>
            <a:endParaRPr lang="en-IN" spc="-1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3AB5A-1197-3593-D6D0-97BF4050C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1630" y="6356351"/>
            <a:ext cx="274034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9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955"/>
              </a:lnSpc>
            </a:pPr>
            <a:fld id="{81D60167-4931-47E6-BA6A-407CBD079E47}" type="slidenum">
              <a:rPr lang="en-IN" spc="-50" smtClean="0"/>
              <a:t>‹#›</a:t>
            </a:fld>
            <a:endParaRPr lang="en-IN" spc="-50" dirty="0"/>
          </a:p>
        </p:txBody>
      </p:sp>
    </p:spTree>
    <p:extLst>
      <p:ext uri="{BB962C8B-B14F-4D97-AF65-F5344CB8AC3E}">
        <p14:creationId xmlns:p14="http://schemas.microsoft.com/office/powerpoint/2010/main" val="600119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3486" rtl="0" eaLnBrk="1" latinLnBrk="0" hangingPunct="1">
        <a:lnSpc>
          <a:spcPct val="90000"/>
        </a:lnSpc>
        <a:spcBef>
          <a:spcPct val="0"/>
        </a:spcBef>
        <a:buNone/>
        <a:defRPr sz="43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371" indent="-228371" algn="l" defTabSz="913486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2797" kern="1200">
          <a:solidFill>
            <a:schemeClr val="tx1"/>
          </a:solidFill>
          <a:latin typeface="+mn-lt"/>
          <a:ea typeface="+mn-ea"/>
          <a:cs typeface="+mn-cs"/>
        </a:defRPr>
      </a:lvl1pPr>
      <a:lvl2pPr marL="6851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1857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8600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343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085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8828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5571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2314" indent="-228371" algn="l" defTabSz="9134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743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486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228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6971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3714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0457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7200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3942" algn="l" defTabSz="913486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682543" y="54806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27403" y="54806"/>
                </a:moveTo>
                <a:lnTo>
                  <a:pt x="16737" y="52653"/>
                </a:lnTo>
                <a:lnTo>
                  <a:pt x="8026" y="46780"/>
                </a:lnTo>
                <a:lnTo>
                  <a:pt x="2153" y="38070"/>
                </a:lnTo>
                <a:lnTo>
                  <a:pt x="0" y="27403"/>
                </a:lnTo>
                <a:lnTo>
                  <a:pt x="2153" y="16736"/>
                </a:lnTo>
                <a:lnTo>
                  <a:pt x="8026" y="8026"/>
                </a:lnTo>
                <a:lnTo>
                  <a:pt x="16737" y="2153"/>
                </a:lnTo>
                <a:lnTo>
                  <a:pt x="27403" y="0"/>
                </a:lnTo>
                <a:lnTo>
                  <a:pt x="34671" y="0"/>
                </a:lnTo>
                <a:lnTo>
                  <a:pt x="41641" y="2887"/>
                </a:lnTo>
                <a:lnTo>
                  <a:pt x="51920" y="13165"/>
                </a:lnTo>
                <a:lnTo>
                  <a:pt x="54807" y="20135"/>
                </a:lnTo>
                <a:lnTo>
                  <a:pt x="54807" y="27403"/>
                </a:lnTo>
                <a:lnTo>
                  <a:pt x="52653" y="38070"/>
                </a:lnTo>
                <a:lnTo>
                  <a:pt x="46780" y="46780"/>
                </a:lnTo>
                <a:lnTo>
                  <a:pt x="38070" y="52653"/>
                </a:lnTo>
                <a:lnTo>
                  <a:pt x="27403" y="5480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047922" y="54806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27403" y="54806"/>
                </a:moveTo>
                <a:lnTo>
                  <a:pt x="16736" y="52653"/>
                </a:lnTo>
                <a:lnTo>
                  <a:pt x="8026" y="46780"/>
                </a:lnTo>
                <a:lnTo>
                  <a:pt x="2153" y="38070"/>
                </a:lnTo>
                <a:lnTo>
                  <a:pt x="0" y="27403"/>
                </a:lnTo>
                <a:lnTo>
                  <a:pt x="2153" y="16736"/>
                </a:lnTo>
                <a:lnTo>
                  <a:pt x="8026" y="8026"/>
                </a:lnTo>
                <a:lnTo>
                  <a:pt x="16736" y="2153"/>
                </a:lnTo>
                <a:lnTo>
                  <a:pt x="27403" y="0"/>
                </a:lnTo>
                <a:lnTo>
                  <a:pt x="34670" y="0"/>
                </a:lnTo>
                <a:lnTo>
                  <a:pt x="41641" y="2887"/>
                </a:lnTo>
                <a:lnTo>
                  <a:pt x="51920" y="13165"/>
                </a:lnTo>
                <a:lnTo>
                  <a:pt x="54806" y="20135"/>
                </a:lnTo>
                <a:lnTo>
                  <a:pt x="54806" y="27403"/>
                </a:lnTo>
                <a:lnTo>
                  <a:pt x="52653" y="38070"/>
                </a:lnTo>
                <a:lnTo>
                  <a:pt x="46780" y="46780"/>
                </a:lnTo>
                <a:lnTo>
                  <a:pt x="38069" y="52653"/>
                </a:lnTo>
                <a:lnTo>
                  <a:pt x="27403" y="5480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13301" y="548068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5">
                <a:moveTo>
                  <a:pt x="27403" y="54806"/>
                </a:moveTo>
                <a:lnTo>
                  <a:pt x="16736" y="52653"/>
                </a:lnTo>
                <a:lnTo>
                  <a:pt x="8026" y="46780"/>
                </a:lnTo>
                <a:lnTo>
                  <a:pt x="2153" y="38070"/>
                </a:lnTo>
                <a:lnTo>
                  <a:pt x="0" y="27403"/>
                </a:lnTo>
                <a:lnTo>
                  <a:pt x="2153" y="16736"/>
                </a:lnTo>
                <a:lnTo>
                  <a:pt x="8026" y="8026"/>
                </a:lnTo>
                <a:lnTo>
                  <a:pt x="16736" y="2153"/>
                </a:lnTo>
                <a:lnTo>
                  <a:pt x="27403" y="0"/>
                </a:lnTo>
                <a:lnTo>
                  <a:pt x="34670" y="0"/>
                </a:lnTo>
                <a:lnTo>
                  <a:pt x="41640" y="2887"/>
                </a:lnTo>
                <a:lnTo>
                  <a:pt x="51919" y="13165"/>
                </a:lnTo>
                <a:lnTo>
                  <a:pt x="54806" y="20135"/>
                </a:lnTo>
                <a:lnTo>
                  <a:pt x="54806" y="27403"/>
                </a:lnTo>
                <a:lnTo>
                  <a:pt x="52653" y="38070"/>
                </a:lnTo>
                <a:lnTo>
                  <a:pt x="46780" y="46780"/>
                </a:lnTo>
                <a:lnTo>
                  <a:pt x="38069" y="52653"/>
                </a:lnTo>
                <a:lnTo>
                  <a:pt x="27403" y="5480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682543" y="91344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403" y="54806"/>
                </a:moveTo>
                <a:lnTo>
                  <a:pt x="16737" y="52653"/>
                </a:lnTo>
                <a:lnTo>
                  <a:pt x="8026" y="46780"/>
                </a:lnTo>
                <a:lnTo>
                  <a:pt x="2153" y="38070"/>
                </a:lnTo>
                <a:lnTo>
                  <a:pt x="0" y="27403"/>
                </a:lnTo>
                <a:lnTo>
                  <a:pt x="2153" y="16736"/>
                </a:lnTo>
                <a:lnTo>
                  <a:pt x="8026" y="8026"/>
                </a:lnTo>
                <a:lnTo>
                  <a:pt x="16737" y="2153"/>
                </a:lnTo>
                <a:lnTo>
                  <a:pt x="27403" y="0"/>
                </a:lnTo>
                <a:lnTo>
                  <a:pt x="34671" y="0"/>
                </a:lnTo>
                <a:lnTo>
                  <a:pt x="41641" y="2887"/>
                </a:lnTo>
                <a:lnTo>
                  <a:pt x="51920" y="13165"/>
                </a:lnTo>
                <a:lnTo>
                  <a:pt x="54807" y="20135"/>
                </a:lnTo>
                <a:lnTo>
                  <a:pt x="54807" y="27403"/>
                </a:lnTo>
                <a:lnTo>
                  <a:pt x="52653" y="38070"/>
                </a:lnTo>
                <a:lnTo>
                  <a:pt x="46780" y="46780"/>
                </a:lnTo>
                <a:lnTo>
                  <a:pt x="38070" y="52653"/>
                </a:lnTo>
                <a:lnTo>
                  <a:pt x="27403" y="5480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47922" y="91344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403" y="54806"/>
                </a:moveTo>
                <a:lnTo>
                  <a:pt x="16736" y="52653"/>
                </a:lnTo>
                <a:lnTo>
                  <a:pt x="8026" y="46780"/>
                </a:lnTo>
                <a:lnTo>
                  <a:pt x="2153" y="38070"/>
                </a:lnTo>
                <a:lnTo>
                  <a:pt x="0" y="27403"/>
                </a:lnTo>
                <a:lnTo>
                  <a:pt x="2153" y="16736"/>
                </a:lnTo>
                <a:lnTo>
                  <a:pt x="8026" y="8026"/>
                </a:lnTo>
                <a:lnTo>
                  <a:pt x="16736" y="2153"/>
                </a:lnTo>
                <a:lnTo>
                  <a:pt x="27403" y="0"/>
                </a:lnTo>
                <a:lnTo>
                  <a:pt x="34670" y="0"/>
                </a:lnTo>
                <a:lnTo>
                  <a:pt x="41641" y="2887"/>
                </a:lnTo>
                <a:lnTo>
                  <a:pt x="51920" y="13165"/>
                </a:lnTo>
                <a:lnTo>
                  <a:pt x="54806" y="20135"/>
                </a:lnTo>
                <a:lnTo>
                  <a:pt x="54806" y="27403"/>
                </a:lnTo>
                <a:lnTo>
                  <a:pt x="52653" y="38070"/>
                </a:lnTo>
                <a:lnTo>
                  <a:pt x="46780" y="46780"/>
                </a:lnTo>
                <a:lnTo>
                  <a:pt x="38069" y="52653"/>
                </a:lnTo>
                <a:lnTo>
                  <a:pt x="27403" y="5480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413301" y="913447"/>
            <a:ext cx="55244" cy="55244"/>
          </a:xfrm>
          <a:custGeom>
            <a:avLst/>
            <a:gdLst/>
            <a:ahLst/>
            <a:cxnLst/>
            <a:rect l="l" t="t" r="r" b="b"/>
            <a:pathLst>
              <a:path w="55245" h="55244">
                <a:moveTo>
                  <a:pt x="27403" y="54806"/>
                </a:moveTo>
                <a:lnTo>
                  <a:pt x="16736" y="52653"/>
                </a:lnTo>
                <a:lnTo>
                  <a:pt x="8026" y="46780"/>
                </a:lnTo>
                <a:lnTo>
                  <a:pt x="2153" y="38070"/>
                </a:lnTo>
                <a:lnTo>
                  <a:pt x="0" y="27403"/>
                </a:lnTo>
                <a:lnTo>
                  <a:pt x="2153" y="16736"/>
                </a:lnTo>
                <a:lnTo>
                  <a:pt x="8026" y="8026"/>
                </a:lnTo>
                <a:lnTo>
                  <a:pt x="16736" y="2153"/>
                </a:lnTo>
                <a:lnTo>
                  <a:pt x="27403" y="0"/>
                </a:lnTo>
                <a:lnTo>
                  <a:pt x="34670" y="0"/>
                </a:lnTo>
                <a:lnTo>
                  <a:pt x="41640" y="2887"/>
                </a:lnTo>
                <a:lnTo>
                  <a:pt x="51919" y="13165"/>
                </a:lnTo>
                <a:lnTo>
                  <a:pt x="54806" y="20135"/>
                </a:lnTo>
                <a:lnTo>
                  <a:pt x="54806" y="27403"/>
                </a:lnTo>
                <a:lnTo>
                  <a:pt x="52653" y="38070"/>
                </a:lnTo>
                <a:lnTo>
                  <a:pt x="46780" y="46780"/>
                </a:lnTo>
                <a:lnTo>
                  <a:pt x="38069" y="52653"/>
                </a:lnTo>
                <a:lnTo>
                  <a:pt x="27403" y="54806"/>
                </a:lnTo>
                <a:close/>
              </a:path>
            </a:pathLst>
          </a:custGeom>
          <a:solidFill>
            <a:srgbClr val="00D9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5160978" y="685085"/>
            <a:ext cx="1370330" cy="1370330"/>
            <a:chOff x="5160978" y="685085"/>
            <a:chExt cx="1370330" cy="1370330"/>
          </a:xfrm>
        </p:grpSpPr>
        <p:sp>
          <p:nvSpPr>
            <p:cNvPr id="10" name="object 10"/>
            <p:cNvSpPr/>
            <p:nvPr/>
          </p:nvSpPr>
          <p:spPr>
            <a:xfrm>
              <a:off x="5160978" y="685085"/>
              <a:ext cx="1370330" cy="1370330"/>
            </a:xfrm>
            <a:custGeom>
              <a:avLst/>
              <a:gdLst/>
              <a:ahLst/>
              <a:cxnLst/>
              <a:rect l="l" t="t" r="r" b="b"/>
              <a:pathLst>
                <a:path w="1370329" h="1370330">
                  <a:moveTo>
                    <a:pt x="685085" y="1370171"/>
                  </a:moveTo>
                  <a:lnTo>
                    <a:pt x="636159" y="1368451"/>
                  </a:lnTo>
                  <a:lnTo>
                    <a:pt x="588162" y="1363367"/>
                  </a:lnTo>
                  <a:lnTo>
                    <a:pt x="541208" y="1355037"/>
                  </a:lnTo>
                  <a:lnTo>
                    <a:pt x="495416" y="1343576"/>
                  </a:lnTo>
                  <a:lnTo>
                    <a:pt x="450899" y="1329100"/>
                  </a:lnTo>
                  <a:lnTo>
                    <a:pt x="407775" y="1311724"/>
                  </a:lnTo>
                  <a:lnTo>
                    <a:pt x="366158" y="1291565"/>
                  </a:lnTo>
                  <a:lnTo>
                    <a:pt x="326166" y="1268738"/>
                  </a:lnTo>
                  <a:lnTo>
                    <a:pt x="287914" y="1243360"/>
                  </a:lnTo>
                  <a:lnTo>
                    <a:pt x="251518" y="1215547"/>
                  </a:lnTo>
                  <a:lnTo>
                    <a:pt x="217093" y="1185414"/>
                  </a:lnTo>
                  <a:lnTo>
                    <a:pt x="184756" y="1153077"/>
                  </a:lnTo>
                  <a:lnTo>
                    <a:pt x="154623" y="1118653"/>
                  </a:lnTo>
                  <a:lnTo>
                    <a:pt x="126810" y="1082256"/>
                  </a:lnTo>
                  <a:lnTo>
                    <a:pt x="101432" y="1044004"/>
                  </a:lnTo>
                  <a:lnTo>
                    <a:pt x="78605" y="1004012"/>
                  </a:lnTo>
                  <a:lnTo>
                    <a:pt x="58446" y="962396"/>
                  </a:lnTo>
                  <a:lnTo>
                    <a:pt x="41071" y="919271"/>
                  </a:lnTo>
                  <a:lnTo>
                    <a:pt x="26594" y="874755"/>
                  </a:lnTo>
                  <a:lnTo>
                    <a:pt x="15133" y="828962"/>
                  </a:lnTo>
                  <a:lnTo>
                    <a:pt x="6803" y="782009"/>
                  </a:lnTo>
                  <a:lnTo>
                    <a:pt x="1720" y="734011"/>
                  </a:lnTo>
                  <a:lnTo>
                    <a:pt x="0" y="685085"/>
                  </a:lnTo>
                  <a:lnTo>
                    <a:pt x="1720" y="636159"/>
                  </a:lnTo>
                  <a:lnTo>
                    <a:pt x="6803" y="588162"/>
                  </a:lnTo>
                  <a:lnTo>
                    <a:pt x="15133" y="541208"/>
                  </a:lnTo>
                  <a:lnTo>
                    <a:pt x="26594" y="495416"/>
                  </a:lnTo>
                  <a:lnTo>
                    <a:pt x="41071" y="450899"/>
                  </a:lnTo>
                  <a:lnTo>
                    <a:pt x="58446" y="407775"/>
                  </a:lnTo>
                  <a:lnTo>
                    <a:pt x="78605" y="366158"/>
                  </a:lnTo>
                  <a:lnTo>
                    <a:pt x="101432" y="326166"/>
                  </a:lnTo>
                  <a:lnTo>
                    <a:pt x="126810" y="287914"/>
                  </a:lnTo>
                  <a:lnTo>
                    <a:pt x="154623" y="251518"/>
                  </a:lnTo>
                  <a:lnTo>
                    <a:pt x="184756" y="217093"/>
                  </a:lnTo>
                  <a:lnTo>
                    <a:pt x="217093" y="184756"/>
                  </a:lnTo>
                  <a:lnTo>
                    <a:pt x="251518" y="154623"/>
                  </a:lnTo>
                  <a:lnTo>
                    <a:pt x="287914" y="126810"/>
                  </a:lnTo>
                  <a:lnTo>
                    <a:pt x="326166" y="101432"/>
                  </a:lnTo>
                  <a:lnTo>
                    <a:pt x="366158" y="78605"/>
                  </a:lnTo>
                  <a:lnTo>
                    <a:pt x="407775" y="58446"/>
                  </a:lnTo>
                  <a:lnTo>
                    <a:pt x="450899" y="41071"/>
                  </a:lnTo>
                  <a:lnTo>
                    <a:pt x="495416" y="26594"/>
                  </a:lnTo>
                  <a:lnTo>
                    <a:pt x="541208" y="15133"/>
                  </a:lnTo>
                  <a:lnTo>
                    <a:pt x="588162" y="6803"/>
                  </a:lnTo>
                  <a:lnTo>
                    <a:pt x="636159" y="1720"/>
                  </a:lnTo>
                  <a:lnTo>
                    <a:pt x="685085" y="0"/>
                  </a:lnTo>
                  <a:lnTo>
                    <a:pt x="734425" y="1777"/>
                  </a:lnTo>
                  <a:lnTo>
                    <a:pt x="783223" y="7062"/>
                  </a:lnTo>
                  <a:lnTo>
                    <a:pt x="831307" y="15783"/>
                  </a:lnTo>
                  <a:lnTo>
                    <a:pt x="878503" y="27869"/>
                  </a:lnTo>
                  <a:lnTo>
                    <a:pt x="924639" y="43247"/>
                  </a:lnTo>
                  <a:lnTo>
                    <a:pt x="969542" y="61846"/>
                  </a:lnTo>
                  <a:lnTo>
                    <a:pt x="1013039" y="83595"/>
                  </a:lnTo>
                  <a:lnTo>
                    <a:pt x="1054958" y="108423"/>
                  </a:lnTo>
                  <a:lnTo>
                    <a:pt x="1095125" y="136256"/>
                  </a:lnTo>
                  <a:lnTo>
                    <a:pt x="1133368" y="167025"/>
                  </a:lnTo>
                  <a:lnTo>
                    <a:pt x="1169513" y="200656"/>
                  </a:lnTo>
                  <a:lnTo>
                    <a:pt x="1203145" y="236802"/>
                  </a:lnTo>
                  <a:lnTo>
                    <a:pt x="1233914" y="275045"/>
                  </a:lnTo>
                  <a:lnTo>
                    <a:pt x="1261747" y="315212"/>
                  </a:lnTo>
                  <a:lnTo>
                    <a:pt x="1286575" y="357130"/>
                  </a:lnTo>
                  <a:lnTo>
                    <a:pt x="1308324" y="400628"/>
                  </a:lnTo>
                  <a:lnTo>
                    <a:pt x="1326923" y="445531"/>
                  </a:lnTo>
                  <a:lnTo>
                    <a:pt x="1342301" y="491667"/>
                  </a:lnTo>
                  <a:lnTo>
                    <a:pt x="1354387" y="538863"/>
                  </a:lnTo>
                  <a:lnTo>
                    <a:pt x="1363108" y="586947"/>
                  </a:lnTo>
                  <a:lnTo>
                    <a:pt x="1368393" y="635745"/>
                  </a:lnTo>
                  <a:lnTo>
                    <a:pt x="1370171" y="685085"/>
                  </a:lnTo>
                  <a:lnTo>
                    <a:pt x="1368451" y="734011"/>
                  </a:lnTo>
                  <a:lnTo>
                    <a:pt x="1363367" y="782009"/>
                  </a:lnTo>
                  <a:lnTo>
                    <a:pt x="1355037" y="828962"/>
                  </a:lnTo>
                  <a:lnTo>
                    <a:pt x="1343576" y="874755"/>
                  </a:lnTo>
                  <a:lnTo>
                    <a:pt x="1329100" y="919271"/>
                  </a:lnTo>
                  <a:lnTo>
                    <a:pt x="1311724" y="962396"/>
                  </a:lnTo>
                  <a:lnTo>
                    <a:pt x="1291565" y="1004012"/>
                  </a:lnTo>
                  <a:lnTo>
                    <a:pt x="1268738" y="1044004"/>
                  </a:lnTo>
                  <a:lnTo>
                    <a:pt x="1243360" y="1082256"/>
                  </a:lnTo>
                  <a:lnTo>
                    <a:pt x="1215547" y="1118653"/>
                  </a:lnTo>
                  <a:lnTo>
                    <a:pt x="1185414" y="1153077"/>
                  </a:lnTo>
                  <a:lnTo>
                    <a:pt x="1153077" y="1185414"/>
                  </a:lnTo>
                  <a:lnTo>
                    <a:pt x="1118653" y="1215547"/>
                  </a:lnTo>
                  <a:lnTo>
                    <a:pt x="1082256" y="1243360"/>
                  </a:lnTo>
                  <a:lnTo>
                    <a:pt x="1044004" y="1268738"/>
                  </a:lnTo>
                  <a:lnTo>
                    <a:pt x="1004012" y="1291565"/>
                  </a:lnTo>
                  <a:lnTo>
                    <a:pt x="962395" y="1311724"/>
                  </a:lnTo>
                  <a:lnTo>
                    <a:pt x="919271" y="1329100"/>
                  </a:lnTo>
                  <a:lnTo>
                    <a:pt x="874755" y="1343576"/>
                  </a:lnTo>
                  <a:lnTo>
                    <a:pt x="828962" y="1355037"/>
                  </a:lnTo>
                  <a:lnTo>
                    <a:pt x="782009" y="1363367"/>
                  </a:lnTo>
                  <a:lnTo>
                    <a:pt x="734011" y="1368451"/>
                  </a:lnTo>
                  <a:lnTo>
                    <a:pt x="685085" y="1370171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9819" y="1013926"/>
              <a:ext cx="712489" cy="712489"/>
            </a:xfrm>
            <a:prstGeom prst="rect">
              <a:avLst/>
            </a:prstGeom>
          </p:spPr>
        </p:pic>
      </p:grp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748725" y="2405592"/>
            <a:ext cx="8194675" cy="634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SUBSTITUTION</a:t>
            </a:r>
            <a:r>
              <a:rPr sz="4000" spc="-120" dirty="0"/>
              <a:t> </a:t>
            </a:r>
            <a:r>
              <a:rPr sz="4000" dirty="0"/>
              <a:t>vs</a:t>
            </a:r>
            <a:r>
              <a:rPr sz="4000" spc="-114" dirty="0"/>
              <a:t> </a:t>
            </a:r>
            <a:r>
              <a:rPr sz="4000" spc="-10" dirty="0"/>
              <a:t>TRANSPOSITION</a:t>
            </a:r>
            <a:endParaRPr sz="4000" dirty="0"/>
          </a:p>
        </p:txBody>
      </p:sp>
      <p:sp>
        <p:nvSpPr>
          <p:cNvPr id="13" name="object 13"/>
          <p:cNvSpPr txBox="1"/>
          <p:nvPr/>
        </p:nvSpPr>
        <p:spPr>
          <a:xfrm>
            <a:off x="4272875" y="3142182"/>
            <a:ext cx="36061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1" dirty="0">
                <a:solidFill>
                  <a:srgbClr val="00D9FF"/>
                </a:solidFill>
                <a:latin typeface="Calibri"/>
                <a:cs typeface="Calibri"/>
              </a:rPr>
              <a:t>Which</a:t>
            </a:r>
            <a:r>
              <a:rPr sz="2200" i="1" spc="-80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D9FF"/>
                </a:solidFill>
                <a:latin typeface="Calibri"/>
                <a:cs typeface="Calibri"/>
              </a:rPr>
              <a:t>Provides</a:t>
            </a:r>
            <a:r>
              <a:rPr sz="2200" i="1" spc="-7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D9FF"/>
                </a:solidFill>
                <a:latin typeface="Calibri"/>
                <a:cs typeface="Calibri"/>
              </a:rPr>
              <a:t>Better</a:t>
            </a:r>
            <a:r>
              <a:rPr sz="2200" i="1" spc="-7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00D9FF"/>
                </a:solidFill>
                <a:latin typeface="Calibri"/>
                <a:cs typeface="Calibri"/>
              </a:rPr>
              <a:t>Security?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47531" y="3973496"/>
            <a:ext cx="3653790" cy="18415"/>
          </a:xfrm>
          <a:custGeom>
            <a:avLst/>
            <a:gdLst/>
            <a:ahLst/>
            <a:cxnLst/>
            <a:rect l="l" t="t" r="r" b="b"/>
            <a:pathLst>
              <a:path w="3653790" h="18414">
                <a:moveTo>
                  <a:pt x="3652426" y="18269"/>
                </a:moveTo>
                <a:lnTo>
                  <a:pt x="1362" y="18269"/>
                </a:lnTo>
                <a:lnTo>
                  <a:pt x="0" y="16905"/>
                </a:lnTo>
                <a:lnTo>
                  <a:pt x="0" y="3044"/>
                </a:lnTo>
                <a:lnTo>
                  <a:pt x="0" y="1363"/>
                </a:lnTo>
                <a:lnTo>
                  <a:pt x="1362" y="0"/>
                </a:lnTo>
                <a:lnTo>
                  <a:pt x="3651552" y="0"/>
                </a:lnTo>
                <a:lnTo>
                  <a:pt x="3652326" y="321"/>
                </a:lnTo>
                <a:lnTo>
                  <a:pt x="3653469" y="1462"/>
                </a:lnTo>
                <a:lnTo>
                  <a:pt x="3653789" y="2237"/>
                </a:lnTo>
                <a:lnTo>
                  <a:pt x="3653789" y="16905"/>
                </a:lnTo>
                <a:lnTo>
                  <a:pt x="3652426" y="18269"/>
                </a:lnTo>
                <a:close/>
              </a:path>
            </a:pathLst>
          </a:custGeom>
          <a:solidFill>
            <a:srgbClr val="1B3A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397488" y="4281137"/>
            <a:ext cx="5350510" cy="62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D9FF"/>
                </a:solidFill>
                <a:latin typeface="Calibri"/>
                <a:cs typeface="Calibri"/>
              </a:rPr>
              <a:t>Presented</a:t>
            </a:r>
            <a:r>
              <a:rPr sz="1600" b="1" spc="-20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00D9FF"/>
                </a:solidFill>
                <a:latin typeface="Calibri"/>
                <a:cs typeface="Calibri"/>
              </a:rPr>
              <a:t>by:</a:t>
            </a:r>
            <a:r>
              <a:rPr sz="1600" b="1" spc="40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Peddagani</a:t>
            </a:r>
            <a:r>
              <a:rPr sz="16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Calibri"/>
                <a:cs typeface="Calibri"/>
              </a:rPr>
              <a:t>Ruthish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220"/>
              </a:spcBef>
              <a:tabLst>
                <a:tab pos="1646555" algn="l"/>
              </a:tabLst>
            </a:pP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Reg</a:t>
            </a:r>
            <a:r>
              <a:rPr sz="1300" spc="-40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No: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192224283</a:t>
            </a:r>
            <a:r>
              <a:rPr sz="1300" spc="100" dirty="0">
                <a:solidFill>
                  <a:srgbClr val="A8BEDD"/>
                </a:solidFill>
                <a:latin typeface="Calibri"/>
                <a:cs typeface="Calibri"/>
              </a:rPr>
              <a:t>  </a:t>
            </a:r>
            <a:r>
              <a:rPr sz="1300" spc="-50" dirty="0">
                <a:solidFill>
                  <a:srgbClr val="A8BEDD"/>
                </a:solidFill>
                <a:latin typeface="Calibri"/>
                <a:cs typeface="Calibri"/>
              </a:rPr>
              <a:t>|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	</a:t>
            </a:r>
            <a:r>
              <a:rPr sz="1300" spc="-10" dirty="0">
                <a:solidFill>
                  <a:srgbClr val="A8BEDD"/>
                </a:solidFill>
                <a:latin typeface="Calibri"/>
                <a:cs typeface="Calibri"/>
              </a:rPr>
              <a:t>Course: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CSA5110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–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8BEDD"/>
                </a:solidFill>
                <a:latin typeface="Calibri"/>
                <a:cs typeface="Calibri"/>
              </a:rPr>
              <a:t>Cryptography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and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A8BEDD"/>
                </a:solidFill>
                <a:latin typeface="Calibri"/>
                <a:cs typeface="Calibri"/>
              </a:rPr>
              <a:t>Network</a:t>
            </a:r>
            <a:r>
              <a:rPr sz="1300" spc="-35" dirty="0">
                <a:solidFill>
                  <a:srgbClr val="A8BEDD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A8BEDD"/>
                </a:solidFill>
                <a:latin typeface="Calibri"/>
                <a:cs typeface="Calibri"/>
              </a:rPr>
              <a:t>Security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dirty="0">
                <a:solidFill>
                  <a:srgbClr val="0A1D3C"/>
                </a:solidFill>
              </a:rPr>
              <a:t>What</a:t>
            </a:r>
            <a:r>
              <a:rPr sz="3200" spc="-60" dirty="0">
                <a:solidFill>
                  <a:srgbClr val="0A1D3C"/>
                </a:solidFill>
              </a:rPr>
              <a:t> </a:t>
            </a:r>
            <a:r>
              <a:rPr sz="3200" dirty="0">
                <a:solidFill>
                  <a:srgbClr val="0A1D3C"/>
                </a:solidFill>
              </a:rPr>
              <a:t>is</a:t>
            </a:r>
            <a:r>
              <a:rPr sz="3200" spc="-55" dirty="0">
                <a:solidFill>
                  <a:srgbClr val="0A1D3C"/>
                </a:solidFill>
              </a:rPr>
              <a:t> </a:t>
            </a:r>
            <a:r>
              <a:rPr sz="3200" spc="-10" dirty="0">
                <a:solidFill>
                  <a:srgbClr val="0A1D3C"/>
                </a:solidFill>
              </a:rPr>
              <a:t>Encryption?</a:t>
            </a:r>
            <a:endParaRPr sz="3200"/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CSA5110</a:t>
            </a:r>
            <a:r>
              <a:rPr spc="-15" dirty="0"/>
              <a:t> </a:t>
            </a:r>
            <a:r>
              <a:rPr dirty="0"/>
              <a:t>·</a:t>
            </a:r>
            <a:r>
              <a:rPr spc="-10" dirty="0"/>
              <a:t> Cryptography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870025" y="383647"/>
            <a:ext cx="685165" cy="685165"/>
            <a:chOff x="10870025" y="383647"/>
            <a:chExt cx="685165" cy="685165"/>
          </a:xfrm>
        </p:grpSpPr>
        <p:sp>
          <p:nvSpPr>
            <p:cNvPr id="4" name="object 4"/>
            <p:cNvSpPr/>
            <p:nvPr/>
          </p:nvSpPr>
          <p:spPr>
            <a:xfrm>
              <a:off x="10870025" y="383647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5" h="685165">
                  <a:moveTo>
                    <a:pt x="342542" y="685085"/>
                  </a:moveTo>
                  <a:lnTo>
                    <a:pt x="296061" y="681958"/>
                  </a:lnTo>
                  <a:lnTo>
                    <a:pt x="251481" y="672849"/>
                  </a:lnTo>
                  <a:lnTo>
                    <a:pt x="209209" y="658166"/>
                  </a:lnTo>
                  <a:lnTo>
                    <a:pt x="169654" y="638318"/>
                  </a:lnTo>
                  <a:lnTo>
                    <a:pt x="133224" y="613712"/>
                  </a:lnTo>
                  <a:lnTo>
                    <a:pt x="100328" y="584757"/>
                  </a:lnTo>
                  <a:lnTo>
                    <a:pt x="71372" y="551860"/>
                  </a:lnTo>
                  <a:lnTo>
                    <a:pt x="46767" y="515430"/>
                  </a:lnTo>
                  <a:lnTo>
                    <a:pt x="26918" y="475875"/>
                  </a:lnTo>
                  <a:lnTo>
                    <a:pt x="12235" y="433604"/>
                  </a:lnTo>
                  <a:lnTo>
                    <a:pt x="3127" y="389023"/>
                  </a:lnTo>
                  <a:lnTo>
                    <a:pt x="0" y="342542"/>
                  </a:lnTo>
                  <a:lnTo>
                    <a:pt x="3127" y="296061"/>
                  </a:lnTo>
                  <a:lnTo>
                    <a:pt x="12235" y="251481"/>
                  </a:lnTo>
                  <a:lnTo>
                    <a:pt x="26918" y="209209"/>
                  </a:lnTo>
                  <a:lnTo>
                    <a:pt x="46767" y="169654"/>
                  </a:lnTo>
                  <a:lnTo>
                    <a:pt x="71372" y="133225"/>
                  </a:lnTo>
                  <a:lnTo>
                    <a:pt x="100328" y="100328"/>
                  </a:lnTo>
                  <a:lnTo>
                    <a:pt x="133224" y="71373"/>
                  </a:lnTo>
                  <a:lnTo>
                    <a:pt x="169654" y="46767"/>
                  </a:lnTo>
                  <a:lnTo>
                    <a:pt x="209209" y="26918"/>
                  </a:lnTo>
                  <a:lnTo>
                    <a:pt x="251481" y="12235"/>
                  </a:lnTo>
                  <a:lnTo>
                    <a:pt x="296061" y="3127"/>
                  </a:lnTo>
                  <a:lnTo>
                    <a:pt x="342542" y="0"/>
                  </a:lnTo>
                  <a:lnTo>
                    <a:pt x="396451" y="4267"/>
                  </a:lnTo>
                  <a:lnTo>
                    <a:pt x="448547" y="16814"/>
                  </a:lnTo>
                  <a:lnTo>
                    <a:pt x="497909" y="37261"/>
                  </a:lnTo>
                  <a:lnTo>
                    <a:pt x="543619" y="65226"/>
                  </a:lnTo>
                  <a:lnTo>
                    <a:pt x="584756" y="100328"/>
                  </a:lnTo>
                  <a:lnTo>
                    <a:pt x="619858" y="141465"/>
                  </a:lnTo>
                  <a:lnTo>
                    <a:pt x="647823" y="187175"/>
                  </a:lnTo>
                  <a:lnTo>
                    <a:pt x="668270" y="236537"/>
                  </a:lnTo>
                  <a:lnTo>
                    <a:pt x="680818" y="288633"/>
                  </a:lnTo>
                  <a:lnTo>
                    <a:pt x="685085" y="342542"/>
                  </a:lnTo>
                  <a:lnTo>
                    <a:pt x="681958" y="389023"/>
                  </a:lnTo>
                  <a:lnTo>
                    <a:pt x="672849" y="433604"/>
                  </a:lnTo>
                  <a:lnTo>
                    <a:pt x="658166" y="475875"/>
                  </a:lnTo>
                  <a:lnTo>
                    <a:pt x="638318" y="515430"/>
                  </a:lnTo>
                  <a:lnTo>
                    <a:pt x="613712" y="551860"/>
                  </a:lnTo>
                  <a:lnTo>
                    <a:pt x="584756" y="584757"/>
                  </a:lnTo>
                  <a:lnTo>
                    <a:pt x="551860" y="613712"/>
                  </a:lnTo>
                  <a:lnTo>
                    <a:pt x="515430" y="638318"/>
                  </a:lnTo>
                  <a:lnTo>
                    <a:pt x="475875" y="658166"/>
                  </a:lnTo>
                  <a:lnTo>
                    <a:pt x="433604" y="672849"/>
                  </a:lnTo>
                  <a:lnTo>
                    <a:pt x="389023" y="681958"/>
                  </a:lnTo>
                  <a:lnTo>
                    <a:pt x="342542" y="68508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4446" y="548068"/>
              <a:ext cx="356244" cy="3562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48068" y="1370171"/>
            <a:ext cx="502920" cy="502920"/>
            <a:chOff x="548068" y="1370171"/>
            <a:chExt cx="502920" cy="502920"/>
          </a:xfrm>
        </p:grpSpPr>
        <p:sp>
          <p:nvSpPr>
            <p:cNvPr id="7" name="object 7"/>
            <p:cNvSpPr/>
            <p:nvPr/>
          </p:nvSpPr>
          <p:spPr>
            <a:xfrm>
              <a:off x="548068" y="1370171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198" y="502396"/>
                  </a:moveTo>
                  <a:lnTo>
                    <a:pt x="206044" y="498348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6" y="251198"/>
                  </a:lnTo>
                  <a:lnTo>
                    <a:pt x="498348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8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8643" y="1490746"/>
              <a:ext cx="261245" cy="26124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11783" y="1484973"/>
            <a:ext cx="303911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Encryption</a:t>
            </a:r>
            <a:r>
              <a:rPr sz="1500" spc="-7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protects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D3C"/>
                </a:solidFill>
                <a:latin typeface="Calibri"/>
                <a:cs typeface="Calibri"/>
              </a:rPr>
              <a:t>data</a:t>
            </a:r>
            <a:r>
              <a:rPr sz="1500" b="1" spc="-1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from</a:t>
            </a:r>
            <a:r>
              <a:rPr sz="1500" spc="-6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hackers.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8068" y="2027853"/>
            <a:ext cx="502920" cy="502920"/>
            <a:chOff x="548068" y="2027853"/>
            <a:chExt cx="502920" cy="502920"/>
          </a:xfrm>
        </p:grpSpPr>
        <p:sp>
          <p:nvSpPr>
            <p:cNvPr id="11" name="object 11"/>
            <p:cNvSpPr/>
            <p:nvPr/>
          </p:nvSpPr>
          <p:spPr>
            <a:xfrm>
              <a:off x="548068" y="2027853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198" y="502396"/>
                  </a:moveTo>
                  <a:lnTo>
                    <a:pt x="206044" y="498349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6" y="251198"/>
                  </a:lnTo>
                  <a:lnTo>
                    <a:pt x="498348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643" y="2148428"/>
              <a:ext cx="261245" cy="26124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11783" y="2142655"/>
            <a:ext cx="312610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It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changes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readable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text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into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secret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A1D3C"/>
                </a:solidFill>
                <a:latin typeface="Calibri"/>
                <a:cs typeface="Calibri"/>
              </a:rPr>
              <a:t>text.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8068" y="2685535"/>
            <a:ext cx="502920" cy="502920"/>
            <a:chOff x="548068" y="2685535"/>
            <a:chExt cx="502920" cy="502920"/>
          </a:xfrm>
        </p:grpSpPr>
        <p:sp>
          <p:nvSpPr>
            <p:cNvPr id="15" name="object 15"/>
            <p:cNvSpPr/>
            <p:nvPr/>
          </p:nvSpPr>
          <p:spPr>
            <a:xfrm>
              <a:off x="548068" y="2685535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198" y="502396"/>
                  </a:moveTo>
                  <a:lnTo>
                    <a:pt x="206044" y="498349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5"/>
                  </a:lnTo>
                  <a:lnTo>
                    <a:pt x="15715" y="163547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3"/>
                  </a:lnTo>
                  <a:lnTo>
                    <a:pt x="502396" y="251198"/>
                  </a:lnTo>
                  <a:lnTo>
                    <a:pt x="498348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8643" y="2806110"/>
              <a:ext cx="261245" cy="26124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11783" y="2800337"/>
            <a:ext cx="309943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original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message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is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called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A1D3C"/>
                </a:solidFill>
                <a:latin typeface="Calibri"/>
                <a:cs typeface="Calibri"/>
              </a:rPr>
              <a:t>Plaintext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8068" y="3343217"/>
            <a:ext cx="502920" cy="502920"/>
            <a:chOff x="548068" y="3343217"/>
            <a:chExt cx="502920" cy="502920"/>
          </a:xfrm>
        </p:grpSpPr>
        <p:sp>
          <p:nvSpPr>
            <p:cNvPr id="19" name="object 19"/>
            <p:cNvSpPr/>
            <p:nvPr/>
          </p:nvSpPr>
          <p:spPr>
            <a:xfrm>
              <a:off x="548068" y="334321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198" y="502396"/>
                  </a:moveTo>
                  <a:lnTo>
                    <a:pt x="206044" y="498348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3"/>
                  </a:lnTo>
                  <a:lnTo>
                    <a:pt x="502396" y="251198"/>
                  </a:lnTo>
                  <a:lnTo>
                    <a:pt x="498348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8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8643" y="3463793"/>
              <a:ext cx="261245" cy="26124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311783" y="3458019"/>
            <a:ext cx="311848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secret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message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is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called</a:t>
            </a:r>
            <a:r>
              <a:rPr sz="1500" spc="-1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0A1D3C"/>
                </a:solidFill>
                <a:latin typeface="Calibri"/>
                <a:cs typeface="Calibri"/>
              </a:rPr>
              <a:t>Ciphertext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6698" y="4138538"/>
            <a:ext cx="431546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solidFill>
                  <a:srgbClr val="0A1D3C"/>
                </a:solidFill>
                <a:latin typeface="Calibri"/>
                <a:cs typeface="Calibri"/>
              </a:rPr>
              <a:t>Two</a:t>
            </a:r>
            <a:r>
              <a:rPr sz="1500" b="1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D3C"/>
                </a:solidFill>
                <a:latin typeface="Calibri"/>
                <a:cs typeface="Calibri"/>
              </a:rPr>
              <a:t>common</a:t>
            </a:r>
            <a:r>
              <a:rPr sz="1500" b="1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A1D3C"/>
                </a:solidFill>
                <a:latin typeface="Calibri"/>
                <a:cs typeface="Calibri"/>
              </a:rPr>
              <a:t>methods:</a:t>
            </a:r>
            <a:r>
              <a:rPr sz="1500" b="1" spc="26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565BF"/>
                </a:solidFill>
                <a:latin typeface="Calibri"/>
                <a:cs typeface="Calibri"/>
              </a:rPr>
              <a:t>Substitution</a:t>
            </a:r>
            <a:r>
              <a:rPr sz="1500" b="1" spc="285" dirty="0">
                <a:solidFill>
                  <a:srgbClr val="1565B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&amp;</a:t>
            </a:r>
            <a:r>
              <a:rPr sz="1500" spc="26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1565BF"/>
                </a:solidFill>
                <a:latin typeface="Calibri"/>
                <a:cs typeface="Calibri"/>
              </a:rPr>
              <a:t>Transposition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377639" y="1300393"/>
            <a:ext cx="5331460" cy="4144010"/>
            <a:chOff x="6377639" y="1300393"/>
            <a:chExt cx="5331460" cy="4144010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7639" y="1300393"/>
              <a:ext cx="5330980" cy="414349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485476" y="1370171"/>
              <a:ext cx="5115560" cy="3928110"/>
            </a:xfrm>
            <a:custGeom>
              <a:avLst/>
              <a:gdLst/>
              <a:ahLst/>
              <a:cxnLst/>
              <a:rect l="l" t="t" r="r" b="b"/>
              <a:pathLst>
                <a:path w="5115559" h="3928110">
                  <a:moveTo>
                    <a:pt x="5005680" y="3927824"/>
                  </a:moveTo>
                  <a:lnTo>
                    <a:pt x="109625" y="3927824"/>
                  </a:lnTo>
                  <a:lnTo>
                    <a:pt x="66954" y="3919209"/>
                  </a:lnTo>
                  <a:lnTo>
                    <a:pt x="32108" y="3895715"/>
                  </a:lnTo>
                  <a:lnTo>
                    <a:pt x="8614" y="3860869"/>
                  </a:lnTo>
                  <a:lnTo>
                    <a:pt x="0" y="3818198"/>
                  </a:lnTo>
                  <a:lnTo>
                    <a:pt x="0" y="109625"/>
                  </a:lnTo>
                  <a:lnTo>
                    <a:pt x="8614" y="66954"/>
                  </a:lnTo>
                  <a:lnTo>
                    <a:pt x="32108" y="32108"/>
                  </a:lnTo>
                  <a:lnTo>
                    <a:pt x="66954" y="8614"/>
                  </a:lnTo>
                  <a:lnTo>
                    <a:pt x="109625" y="0"/>
                  </a:lnTo>
                  <a:lnTo>
                    <a:pt x="5005680" y="0"/>
                  </a:lnTo>
                  <a:lnTo>
                    <a:pt x="5047632" y="8344"/>
                  </a:lnTo>
                  <a:lnTo>
                    <a:pt x="5083197" y="32108"/>
                  </a:lnTo>
                  <a:lnTo>
                    <a:pt x="5106961" y="67673"/>
                  </a:lnTo>
                  <a:lnTo>
                    <a:pt x="5115305" y="109625"/>
                  </a:lnTo>
                  <a:lnTo>
                    <a:pt x="5115305" y="3818198"/>
                  </a:lnTo>
                  <a:lnTo>
                    <a:pt x="5106691" y="3860869"/>
                  </a:lnTo>
                  <a:lnTo>
                    <a:pt x="5083197" y="3895715"/>
                  </a:lnTo>
                  <a:lnTo>
                    <a:pt x="5048351" y="3919209"/>
                  </a:lnTo>
                  <a:lnTo>
                    <a:pt x="5005680" y="3927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85476" y="1370171"/>
              <a:ext cx="5115560" cy="3928110"/>
            </a:xfrm>
            <a:custGeom>
              <a:avLst/>
              <a:gdLst/>
              <a:ahLst/>
              <a:cxnLst/>
              <a:rect l="l" t="t" r="r" b="b"/>
              <a:pathLst>
                <a:path w="5115559" h="3928110">
                  <a:moveTo>
                    <a:pt x="0" y="109625"/>
                  </a:moveTo>
                  <a:lnTo>
                    <a:pt x="8614" y="66954"/>
                  </a:lnTo>
                  <a:lnTo>
                    <a:pt x="32108" y="32108"/>
                  </a:lnTo>
                  <a:lnTo>
                    <a:pt x="66954" y="8614"/>
                  </a:lnTo>
                  <a:lnTo>
                    <a:pt x="109625" y="0"/>
                  </a:lnTo>
                  <a:lnTo>
                    <a:pt x="5005680" y="0"/>
                  </a:lnTo>
                  <a:lnTo>
                    <a:pt x="5047632" y="8344"/>
                  </a:lnTo>
                  <a:lnTo>
                    <a:pt x="5083197" y="32108"/>
                  </a:lnTo>
                  <a:lnTo>
                    <a:pt x="5106961" y="67673"/>
                  </a:lnTo>
                  <a:lnTo>
                    <a:pt x="5115305" y="109625"/>
                  </a:lnTo>
                  <a:lnTo>
                    <a:pt x="5115305" y="3818198"/>
                  </a:lnTo>
                  <a:lnTo>
                    <a:pt x="5106691" y="3860869"/>
                  </a:lnTo>
                  <a:lnTo>
                    <a:pt x="5083197" y="3895715"/>
                  </a:lnTo>
                  <a:lnTo>
                    <a:pt x="5048351" y="3919209"/>
                  </a:lnTo>
                  <a:lnTo>
                    <a:pt x="5005680" y="3927824"/>
                  </a:lnTo>
                  <a:lnTo>
                    <a:pt x="109625" y="3927824"/>
                  </a:lnTo>
                  <a:lnTo>
                    <a:pt x="66954" y="3919209"/>
                  </a:lnTo>
                  <a:lnTo>
                    <a:pt x="32108" y="3895715"/>
                  </a:lnTo>
                  <a:lnTo>
                    <a:pt x="8614" y="3860869"/>
                  </a:lnTo>
                  <a:lnTo>
                    <a:pt x="0" y="3818198"/>
                  </a:lnTo>
                  <a:lnTo>
                    <a:pt x="0" y="109625"/>
                  </a:lnTo>
                  <a:close/>
                </a:path>
              </a:pathLst>
            </a:custGeom>
            <a:ln w="12686">
              <a:solidFill>
                <a:srgbClr val="DBE6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8400516" y="1644826"/>
            <a:ext cx="127508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solidFill>
                  <a:srgbClr val="596A85"/>
                </a:solidFill>
                <a:latin typeface="Calibri"/>
                <a:cs typeface="Calibri"/>
              </a:rPr>
              <a:t>Simple</a:t>
            </a:r>
            <a:r>
              <a:rPr sz="1500" b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500" b="1" spc="-10" dirty="0">
                <a:solidFill>
                  <a:srgbClr val="596A85"/>
                </a:solidFill>
                <a:latin typeface="Calibri"/>
                <a:cs typeface="Calibri"/>
              </a:rPr>
              <a:t>Example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025607" y="2184336"/>
            <a:ext cx="4035425" cy="610235"/>
            <a:chOff x="7025607" y="2184336"/>
            <a:chExt cx="4035425" cy="610235"/>
          </a:xfrm>
        </p:grpSpPr>
        <p:sp>
          <p:nvSpPr>
            <p:cNvPr id="29" name="object 29"/>
            <p:cNvSpPr/>
            <p:nvPr/>
          </p:nvSpPr>
          <p:spPr>
            <a:xfrm>
              <a:off x="7033545" y="2192273"/>
              <a:ext cx="4019550" cy="594360"/>
            </a:xfrm>
            <a:custGeom>
              <a:avLst/>
              <a:gdLst/>
              <a:ahLst/>
              <a:cxnLst/>
              <a:rect l="l" t="t" r="r" b="b"/>
              <a:pathLst>
                <a:path w="4019550" h="594360">
                  <a:moveTo>
                    <a:pt x="3946091" y="593740"/>
                  </a:moveTo>
                  <a:lnTo>
                    <a:pt x="73077" y="593740"/>
                  </a:lnTo>
                  <a:lnTo>
                    <a:pt x="44632" y="587998"/>
                  </a:lnTo>
                  <a:lnTo>
                    <a:pt x="21403" y="572336"/>
                  </a:lnTo>
                  <a:lnTo>
                    <a:pt x="5742" y="549108"/>
                  </a:lnTo>
                  <a:lnTo>
                    <a:pt x="0" y="520663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3946091" y="0"/>
                  </a:lnTo>
                  <a:lnTo>
                    <a:pt x="3986635" y="12277"/>
                  </a:lnTo>
                  <a:lnTo>
                    <a:pt x="4013606" y="45112"/>
                  </a:lnTo>
                  <a:lnTo>
                    <a:pt x="4019168" y="73077"/>
                  </a:lnTo>
                  <a:lnTo>
                    <a:pt x="4019168" y="520663"/>
                  </a:lnTo>
                  <a:lnTo>
                    <a:pt x="4013426" y="549108"/>
                  </a:lnTo>
                  <a:lnTo>
                    <a:pt x="3997765" y="572336"/>
                  </a:lnTo>
                  <a:lnTo>
                    <a:pt x="3974536" y="587998"/>
                  </a:lnTo>
                  <a:lnTo>
                    <a:pt x="3946091" y="593740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33545" y="2192273"/>
              <a:ext cx="4019550" cy="594360"/>
            </a:xfrm>
            <a:custGeom>
              <a:avLst/>
              <a:gdLst/>
              <a:ahLst/>
              <a:cxnLst/>
              <a:rect l="l" t="t" r="r" b="b"/>
              <a:pathLst>
                <a:path w="4019550" h="594360">
                  <a:moveTo>
                    <a:pt x="0" y="73077"/>
                  </a:moveTo>
                  <a:lnTo>
                    <a:pt x="5742" y="44632"/>
                  </a:lnTo>
                  <a:lnTo>
                    <a:pt x="21403" y="21403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3946091" y="0"/>
                  </a:lnTo>
                  <a:lnTo>
                    <a:pt x="3986635" y="12277"/>
                  </a:lnTo>
                  <a:lnTo>
                    <a:pt x="4013606" y="45112"/>
                  </a:lnTo>
                  <a:lnTo>
                    <a:pt x="4019168" y="73077"/>
                  </a:lnTo>
                  <a:lnTo>
                    <a:pt x="4019168" y="520663"/>
                  </a:lnTo>
                  <a:lnTo>
                    <a:pt x="4013426" y="549108"/>
                  </a:lnTo>
                  <a:lnTo>
                    <a:pt x="3997765" y="572336"/>
                  </a:lnTo>
                  <a:lnTo>
                    <a:pt x="3974536" y="587998"/>
                  </a:lnTo>
                  <a:lnTo>
                    <a:pt x="3946091" y="593740"/>
                  </a:lnTo>
                  <a:lnTo>
                    <a:pt x="73077" y="593740"/>
                  </a:lnTo>
                  <a:lnTo>
                    <a:pt x="44632" y="587998"/>
                  </a:lnTo>
                  <a:lnTo>
                    <a:pt x="21403" y="572336"/>
                  </a:lnTo>
                  <a:lnTo>
                    <a:pt x="5742" y="549108"/>
                  </a:lnTo>
                  <a:lnTo>
                    <a:pt x="0" y="520663"/>
                  </a:lnTo>
                  <a:lnTo>
                    <a:pt x="0" y="73077"/>
                  </a:lnTo>
                  <a:close/>
                </a:path>
              </a:pathLst>
            </a:custGeom>
            <a:ln w="15858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8606042" y="2274928"/>
            <a:ext cx="875665" cy="3873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350" spc="-70" dirty="0">
                <a:solidFill>
                  <a:srgbClr val="0A1D3C"/>
                </a:solidFill>
                <a:latin typeface="Courier New"/>
                <a:cs typeface="Courier New"/>
              </a:rPr>
              <a:t>HELLO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77313" y="2845755"/>
            <a:ext cx="520700" cy="19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i="1" spc="-10" dirty="0">
                <a:solidFill>
                  <a:srgbClr val="596A85"/>
                </a:solidFill>
                <a:latin typeface="Calibri"/>
                <a:cs typeface="Calibri"/>
              </a:rPr>
              <a:t>Plaintext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27202" y="3242738"/>
            <a:ext cx="4032250" cy="1513840"/>
            <a:chOff x="7027202" y="3242738"/>
            <a:chExt cx="4032250" cy="1513840"/>
          </a:xfrm>
        </p:grpSpPr>
        <p:sp>
          <p:nvSpPr>
            <p:cNvPr id="34" name="object 34"/>
            <p:cNvSpPr/>
            <p:nvPr/>
          </p:nvSpPr>
          <p:spPr>
            <a:xfrm>
              <a:off x="8769095" y="3242738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034" y="548068"/>
                  </a:moveTo>
                  <a:lnTo>
                    <a:pt x="224776" y="543653"/>
                  </a:lnTo>
                  <a:lnTo>
                    <a:pt x="178415" y="530924"/>
                  </a:lnTo>
                  <a:lnTo>
                    <a:pt x="135724" y="510654"/>
                  </a:lnTo>
                  <a:lnTo>
                    <a:pt x="97477" y="483619"/>
                  </a:lnTo>
                  <a:lnTo>
                    <a:pt x="64449" y="450591"/>
                  </a:lnTo>
                  <a:lnTo>
                    <a:pt x="37413" y="412344"/>
                  </a:lnTo>
                  <a:lnTo>
                    <a:pt x="17144" y="369653"/>
                  </a:lnTo>
                  <a:lnTo>
                    <a:pt x="4415" y="323292"/>
                  </a:lnTo>
                  <a:lnTo>
                    <a:pt x="0" y="274034"/>
                  </a:lnTo>
                  <a:lnTo>
                    <a:pt x="4415" y="224776"/>
                  </a:lnTo>
                  <a:lnTo>
                    <a:pt x="17144" y="178414"/>
                  </a:lnTo>
                  <a:lnTo>
                    <a:pt x="37413" y="135723"/>
                  </a:lnTo>
                  <a:lnTo>
                    <a:pt x="64449" y="97477"/>
                  </a:lnTo>
                  <a:lnTo>
                    <a:pt x="97477" y="64449"/>
                  </a:lnTo>
                  <a:lnTo>
                    <a:pt x="135724" y="37413"/>
                  </a:lnTo>
                  <a:lnTo>
                    <a:pt x="178415" y="17144"/>
                  </a:lnTo>
                  <a:lnTo>
                    <a:pt x="224776" y="4415"/>
                  </a:lnTo>
                  <a:lnTo>
                    <a:pt x="274034" y="0"/>
                  </a:lnTo>
                  <a:lnTo>
                    <a:pt x="327745" y="5314"/>
                  </a:lnTo>
                  <a:lnTo>
                    <a:pt x="378902" y="20859"/>
                  </a:lnTo>
                  <a:lnTo>
                    <a:pt x="426068" y="46041"/>
                  </a:lnTo>
                  <a:lnTo>
                    <a:pt x="467805" y="80262"/>
                  </a:lnTo>
                  <a:lnTo>
                    <a:pt x="502027" y="121999"/>
                  </a:lnTo>
                  <a:lnTo>
                    <a:pt x="527208" y="169165"/>
                  </a:lnTo>
                  <a:lnTo>
                    <a:pt x="542754" y="220323"/>
                  </a:lnTo>
                  <a:lnTo>
                    <a:pt x="548068" y="274034"/>
                  </a:lnTo>
                  <a:lnTo>
                    <a:pt x="543653" y="323292"/>
                  </a:lnTo>
                  <a:lnTo>
                    <a:pt x="530924" y="369653"/>
                  </a:lnTo>
                  <a:lnTo>
                    <a:pt x="510654" y="412344"/>
                  </a:lnTo>
                  <a:lnTo>
                    <a:pt x="483619" y="450591"/>
                  </a:lnTo>
                  <a:lnTo>
                    <a:pt x="450591" y="483619"/>
                  </a:lnTo>
                  <a:lnTo>
                    <a:pt x="412344" y="510654"/>
                  </a:lnTo>
                  <a:lnTo>
                    <a:pt x="369653" y="530924"/>
                  </a:lnTo>
                  <a:lnTo>
                    <a:pt x="323292" y="543653"/>
                  </a:lnTo>
                  <a:lnTo>
                    <a:pt x="274034" y="548068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00632" y="3374275"/>
              <a:ext cx="284995" cy="28499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033545" y="4156185"/>
              <a:ext cx="4019550" cy="594360"/>
            </a:xfrm>
            <a:custGeom>
              <a:avLst/>
              <a:gdLst/>
              <a:ahLst/>
              <a:cxnLst/>
              <a:rect l="l" t="t" r="r" b="b"/>
              <a:pathLst>
                <a:path w="4019550" h="594360">
                  <a:moveTo>
                    <a:pt x="3946091" y="593740"/>
                  </a:moveTo>
                  <a:lnTo>
                    <a:pt x="73077" y="593740"/>
                  </a:lnTo>
                  <a:lnTo>
                    <a:pt x="44632" y="587998"/>
                  </a:lnTo>
                  <a:lnTo>
                    <a:pt x="21403" y="572336"/>
                  </a:lnTo>
                  <a:lnTo>
                    <a:pt x="5742" y="549108"/>
                  </a:lnTo>
                  <a:lnTo>
                    <a:pt x="0" y="520663"/>
                  </a:lnTo>
                  <a:lnTo>
                    <a:pt x="0" y="73077"/>
                  </a:lnTo>
                  <a:lnTo>
                    <a:pt x="5742" y="44632"/>
                  </a:lnTo>
                  <a:lnTo>
                    <a:pt x="21403" y="21404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3946091" y="0"/>
                  </a:lnTo>
                  <a:lnTo>
                    <a:pt x="3986635" y="12277"/>
                  </a:lnTo>
                  <a:lnTo>
                    <a:pt x="4013606" y="45112"/>
                  </a:lnTo>
                  <a:lnTo>
                    <a:pt x="4019168" y="73077"/>
                  </a:lnTo>
                  <a:lnTo>
                    <a:pt x="4019168" y="520663"/>
                  </a:lnTo>
                  <a:lnTo>
                    <a:pt x="4013426" y="549108"/>
                  </a:lnTo>
                  <a:lnTo>
                    <a:pt x="3997765" y="572336"/>
                  </a:lnTo>
                  <a:lnTo>
                    <a:pt x="3974536" y="587998"/>
                  </a:lnTo>
                  <a:lnTo>
                    <a:pt x="3946091" y="593740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33545" y="4156185"/>
              <a:ext cx="4019550" cy="594360"/>
            </a:xfrm>
            <a:custGeom>
              <a:avLst/>
              <a:gdLst/>
              <a:ahLst/>
              <a:cxnLst/>
              <a:rect l="l" t="t" r="r" b="b"/>
              <a:pathLst>
                <a:path w="4019550" h="594360">
                  <a:moveTo>
                    <a:pt x="0" y="73077"/>
                  </a:moveTo>
                  <a:lnTo>
                    <a:pt x="5742" y="44632"/>
                  </a:lnTo>
                  <a:lnTo>
                    <a:pt x="21403" y="21404"/>
                  </a:lnTo>
                  <a:lnTo>
                    <a:pt x="44632" y="5742"/>
                  </a:lnTo>
                  <a:lnTo>
                    <a:pt x="73077" y="0"/>
                  </a:lnTo>
                  <a:lnTo>
                    <a:pt x="3946091" y="0"/>
                  </a:lnTo>
                  <a:lnTo>
                    <a:pt x="3986635" y="12277"/>
                  </a:lnTo>
                  <a:lnTo>
                    <a:pt x="4013606" y="45112"/>
                  </a:lnTo>
                  <a:lnTo>
                    <a:pt x="4019168" y="73077"/>
                  </a:lnTo>
                  <a:lnTo>
                    <a:pt x="4019168" y="520663"/>
                  </a:lnTo>
                  <a:lnTo>
                    <a:pt x="4013426" y="549108"/>
                  </a:lnTo>
                  <a:lnTo>
                    <a:pt x="3997765" y="572336"/>
                  </a:lnTo>
                  <a:lnTo>
                    <a:pt x="3974536" y="587998"/>
                  </a:lnTo>
                  <a:lnTo>
                    <a:pt x="3946091" y="593740"/>
                  </a:lnTo>
                  <a:lnTo>
                    <a:pt x="73077" y="593740"/>
                  </a:lnTo>
                  <a:lnTo>
                    <a:pt x="44632" y="587998"/>
                  </a:lnTo>
                  <a:lnTo>
                    <a:pt x="21403" y="572336"/>
                  </a:lnTo>
                  <a:lnTo>
                    <a:pt x="5742" y="549108"/>
                  </a:lnTo>
                  <a:lnTo>
                    <a:pt x="0" y="520663"/>
                  </a:lnTo>
                  <a:lnTo>
                    <a:pt x="0" y="73077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8187378" y="3842619"/>
            <a:ext cx="1727200" cy="1160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5240" algn="ctr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1565BF"/>
                </a:solidFill>
                <a:latin typeface="Calibri"/>
                <a:cs typeface="Calibri"/>
              </a:rPr>
              <a:t>Encryption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12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sz="2200" dirty="0">
                <a:solidFill>
                  <a:srgbClr val="00D9FF"/>
                </a:solidFill>
                <a:latin typeface="Courier New"/>
                <a:cs typeface="Courier New"/>
              </a:rPr>
              <a:t>#</a:t>
            </a:r>
            <a:r>
              <a:rPr sz="2200" spc="-280" dirty="0">
                <a:solidFill>
                  <a:srgbClr val="00D9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D9FF"/>
                </a:solidFill>
                <a:latin typeface="Courier New"/>
                <a:cs typeface="Courier New"/>
              </a:rPr>
              <a:t>@</a:t>
            </a:r>
            <a:r>
              <a:rPr sz="2200" spc="-295" dirty="0">
                <a:solidFill>
                  <a:srgbClr val="00D9FF"/>
                </a:solidFill>
                <a:latin typeface="Courier New"/>
                <a:cs typeface="Courier New"/>
              </a:rPr>
              <a:t> </a:t>
            </a:r>
            <a:r>
              <a:rPr sz="2200" spc="50" dirty="0">
                <a:solidFill>
                  <a:srgbClr val="00D9FF"/>
                </a:solidFill>
                <a:latin typeface="Courier New"/>
                <a:cs typeface="Courier New"/>
              </a:rPr>
              <a:t>%</a:t>
            </a:r>
            <a:r>
              <a:rPr sz="2200" spc="-330" dirty="0">
                <a:solidFill>
                  <a:srgbClr val="00D9FF"/>
                </a:solidFill>
                <a:latin typeface="Courier New"/>
                <a:cs typeface="Courier New"/>
              </a:rPr>
              <a:t> </a:t>
            </a:r>
            <a:r>
              <a:rPr sz="2200" spc="-520" dirty="0">
                <a:solidFill>
                  <a:srgbClr val="00D9FF"/>
                </a:solidFill>
                <a:latin typeface="Courier New"/>
                <a:cs typeface="Courier New"/>
              </a:rPr>
              <a:t>!</a:t>
            </a:r>
            <a:r>
              <a:rPr sz="2200" spc="229" dirty="0">
                <a:solidFill>
                  <a:srgbClr val="00D9FF"/>
                </a:solidFill>
                <a:latin typeface="Courier New"/>
                <a:cs typeface="Courier New"/>
              </a:rPr>
              <a:t> </a:t>
            </a:r>
            <a:r>
              <a:rPr sz="2200" dirty="0">
                <a:solidFill>
                  <a:srgbClr val="00D9FF"/>
                </a:solidFill>
                <a:latin typeface="Courier New"/>
                <a:cs typeface="Courier New"/>
              </a:rPr>
              <a:t>$</a:t>
            </a:r>
            <a:r>
              <a:rPr sz="2200" spc="-114" dirty="0">
                <a:solidFill>
                  <a:srgbClr val="00D9FF"/>
                </a:solidFill>
                <a:latin typeface="Courier New"/>
                <a:cs typeface="Courier New"/>
              </a:rPr>
              <a:t> </a:t>
            </a:r>
            <a:r>
              <a:rPr sz="2200" spc="25" dirty="0">
                <a:solidFill>
                  <a:srgbClr val="00D9FF"/>
                </a:solidFill>
                <a:latin typeface="Courier New"/>
                <a:cs typeface="Courier New"/>
              </a:rPr>
              <a:t>&amp;</a:t>
            </a:r>
            <a:endParaRPr sz="2200">
              <a:latin typeface="Courier New"/>
              <a:cs typeface="Courier New"/>
            </a:endParaRPr>
          </a:p>
          <a:p>
            <a:pPr marR="19050" algn="ctr">
              <a:lnSpc>
                <a:spcPct val="100000"/>
              </a:lnSpc>
              <a:spcBef>
                <a:spcPts val="1714"/>
              </a:spcBef>
            </a:pPr>
            <a:r>
              <a:rPr sz="1100" i="1" spc="-10" dirty="0">
                <a:solidFill>
                  <a:srgbClr val="596A85"/>
                </a:solidFill>
                <a:latin typeface="Calibri"/>
                <a:cs typeface="Calibri"/>
              </a:rPr>
              <a:t>Ciphertext</a:t>
            </a:r>
            <a:r>
              <a:rPr sz="1100" i="1" spc="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596A85"/>
                </a:solidFill>
                <a:latin typeface="Calibri"/>
                <a:cs typeface="Calibri"/>
              </a:rPr>
              <a:t>(Secret</a:t>
            </a:r>
            <a:r>
              <a:rPr sz="1100" i="1" spc="1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100" i="1" spc="-10" dirty="0">
                <a:solidFill>
                  <a:srgbClr val="596A85"/>
                </a:solidFill>
                <a:latin typeface="Calibri"/>
                <a:cs typeface="Calibri"/>
              </a:rPr>
              <a:t>Message)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10" dirty="0">
                <a:solidFill>
                  <a:srgbClr val="0A1D3C"/>
                </a:solidFill>
              </a:rPr>
              <a:t>Substitution</a:t>
            </a:r>
            <a:r>
              <a:rPr sz="3200" spc="-70" dirty="0">
                <a:solidFill>
                  <a:srgbClr val="0A1D3C"/>
                </a:solidFill>
              </a:rPr>
              <a:t> </a:t>
            </a:r>
            <a:r>
              <a:rPr sz="3200" spc="-10" dirty="0">
                <a:solidFill>
                  <a:srgbClr val="0A1D3C"/>
                </a:solidFill>
              </a:rPr>
              <a:t>Cipher</a:t>
            </a:r>
            <a:endParaRPr sz="3200"/>
          </a:p>
        </p:txBody>
      </p:sp>
      <p:sp>
        <p:nvSpPr>
          <p:cNvPr id="73" name="object 7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CSA5110</a:t>
            </a:r>
            <a:r>
              <a:rPr spc="-15" dirty="0"/>
              <a:t> </a:t>
            </a:r>
            <a:r>
              <a:rPr dirty="0"/>
              <a:t>·</a:t>
            </a:r>
            <a:r>
              <a:rPr spc="-10" dirty="0"/>
              <a:t> Cryptography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74" name="object 7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870025" y="383647"/>
            <a:ext cx="685165" cy="685165"/>
            <a:chOff x="10870025" y="383647"/>
            <a:chExt cx="685165" cy="685165"/>
          </a:xfrm>
        </p:grpSpPr>
        <p:sp>
          <p:nvSpPr>
            <p:cNvPr id="4" name="object 4"/>
            <p:cNvSpPr/>
            <p:nvPr/>
          </p:nvSpPr>
          <p:spPr>
            <a:xfrm>
              <a:off x="10870025" y="383647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5" h="685165">
                  <a:moveTo>
                    <a:pt x="342542" y="685085"/>
                  </a:moveTo>
                  <a:lnTo>
                    <a:pt x="296061" y="681958"/>
                  </a:lnTo>
                  <a:lnTo>
                    <a:pt x="251481" y="672849"/>
                  </a:lnTo>
                  <a:lnTo>
                    <a:pt x="209209" y="658166"/>
                  </a:lnTo>
                  <a:lnTo>
                    <a:pt x="169654" y="638318"/>
                  </a:lnTo>
                  <a:lnTo>
                    <a:pt x="133224" y="613712"/>
                  </a:lnTo>
                  <a:lnTo>
                    <a:pt x="100328" y="584757"/>
                  </a:lnTo>
                  <a:lnTo>
                    <a:pt x="71372" y="551860"/>
                  </a:lnTo>
                  <a:lnTo>
                    <a:pt x="46767" y="515430"/>
                  </a:lnTo>
                  <a:lnTo>
                    <a:pt x="26918" y="475875"/>
                  </a:lnTo>
                  <a:lnTo>
                    <a:pt x="12235" y="433604"/>
                  </a:lnTo>
                  <a:lnTo>
                    <a:pt x="3127" y="389023"/>
                  </a:lnTo>
                  <a:lnTo>
                    <a:pt x="0" y="342542"/>
                  </a:lnTo>
                  <a:lnTo>
                    <a:pt x="3127" y="296061"/>
                  </a:lnTo>
                  <a:lnTo>
                    <a:pt x="12235" y="251481"/>
                  </a:lnTo>
                  <a:lnTo>
                    <a:pt x="26918" y="209209"/>
                  </a:lnTo>
                  <a:lnTo>
                    <a:pt x="46767" y="169654"/>
                  </a:lnTo>
                  <a:lnTo>
                    <a:pt x="71372" y="133225"/>
                  </a:lnTo>
                  <a:lnTo>
                    <a:pt x="100328" y="100328"/>
                  </a:lnTo>
                  <a:lnTo>
                    <a:pt x="133224" y="71373"/>
                  </a:lnTo>
                  <a:lnTo>
                    <a:pt x="169654" y="46767"/>
                  </a:lnTo>
                  <a:lnTo>
                    <a:pt x="209209" y="26918"/>
                  </a:lnTo>
                  <a:lnTo>
                    <a:pt x="251481" y="12235"/>
                  </a:lnTo>
                  <a:lnTo>
                    <a:pt x="296061" y="3127"/>
                  </a:lnTo>
                  <a:lnTo>
                    <a:pt x="342542" y="0"/>
                  </a:lnTo>
                  <a:lnTo>
                    <a:pt x="396451" y="4267"/>
                  </a:lnTo>
                  <a:lnTo>
                    <a:pt x="448547" y="16814"/>
                  </a:lnTo>
                  <a:lnTo>
                    <a:pt x="497909" y="37261"/>
                  </a:lnTo>
                  <a:lnTo>
                    <a:pt x="543619" y="65226"/>
                  </a:lnTo>
                  <a:lnTo>
                    <a:pt x="584756" y="100328"/>
                  </a:lnTo>
                  <a:lnTo>
                    <a:pt x="619858" y="141465"/>
                  </a:lnTo>
                  <a:lnTo>
                    <a:pt x="647823" y="187175"/>
                  </a:lnTo>
                  <a:lnTo>
                    <a:pt x="668270" y="236537"/>
                  </a:lnTo>
                  <a:lnTo>
                    <a:pt x="680818" y="288633"/>
                  </a:lnTo>
                  <a:lnTo>
                    <a:pt x="685085" y="342542"/>
                  </a:lnTo>
                  <a:lnTo>
                    <a:pt x="681958" y="389023"/>
                  </a:lnTo>
                  <a:lnTo>
                    <a:pt x="672849" y="433604"/>
                  </a:lnTo>
                  <a:lnTo>
                    <a:pt x="658166" y="475875"/>
                  </a:lnTo>
                  <a:lnTo>
                    <a:pt x="638318" y="515430"/>
                  </a:lnTo>
                  <a:lnTo>
                    <a:pt x="613712" y="551860"/>
                  </a:lnTo>
                  <a:lnTo>
                    <a:pt x="584756" y="584757"/>
                  </a:lnTo>
                  <a:lnTo>
                    <a:pt x="551860" y="613712"/>
                  </a:lnTo>
                  <a:lnTo>
                    <a:pt x="515430" y="638318"/>
                  </a:lnTo>
                  <a:lnTo>
                    <a:pt x="475875" y="658166"/>
                  </a:lnTo>
                  <a:lnTo>
                    <a:pt x="433604" y="672849"/>
                  </a:lnTo>
                  <a:lnTo>
                    <a:pt x="389023" y="681958"/>
                  </a:lnTo>
                  <a:lnTo>
                    <a:pt x="342542" y="68508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4446" y="548068"/>
              <a:ext cx="356244" cy="3562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48068" y="1415843"/>
            <a:ext cx="438784" cy="438784"/>
            <a:chOff x="548068" y="1415843"/>
            <a:chExt cx="438784" cy="438784"/>
          </a:xfrm>
        </p:grpSpPr>
        <p:sp>
          <p:nvSpPr>
            <p:cNvPr id="7" name="object 7"/>
            <p:cNvSpPr/>
            <p:nvPr/>
          </p:nvSpPr>
          <p:spPr>
            <a:xfrm>
              <a:off x="548068" y="1415843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2"/>
                  </a:lnTo>
                  <a:lnTo>
                    <a:pt x="48161" y="356342"/>
                  </a:lnTo>
                  <a:lnTo>
                    <a:pt x="22282" y="315637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7"/>
                  </a:lnTo>
                  <a:lnTo>
                    <a:pt x="390292" y="356342"/>
                  </a:lnTo>
                  <a:lnTo>
                    <a:pt x="356342" y="390292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1521072"/>
              <a:ext cx="227996" cy="22799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47842" y="1507809"/>
            <a:ext cx="304482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Replaces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one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letter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with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another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letter.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8068" y="2018719"/>
            <a:ext cx="438784" cy="438784"/>
            <a:chOff x="548068" y="2018719"/>
            <a:chExt cx="438784" cy="438784"/>
          </a:xfrm>
        </p:grpSpPr>
        <p:sp>
          <p:nvSpPr>
            <p:cNvPr id="11" name="object 11"/>
            <p:cNvSpPr/>
            <p:nvPr/>
          </p:nvSpPr>
          <p:spPr>
            <a:xfrm>
              <a:off x="548068" y="2018719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2"/>
                  </a:lnTo>
                  <a:lnTo>
                    <a:pt x="48161" y="356342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2"/>
                  </a:lnTo>
                  <a:lnTo>
                    <a:pt x="356342" y="390292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2123948"/>
              <a:ext cx="227996" cy="22799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47842" y="2110684"/>
            <a:ext cx="294640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position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of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letters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stays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A1D3C"/>
                </a:solidFill>
                <a:latin typeface="Calibri"/>
                <a:cs typeface="Calibri"/>
              </a:rPr>
              <a:t>same.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8068" y="2621594"/>
            <a:ext cx="438784" cy="438784"/>
            <a:chOff x="548068" y="2621594"/>
            <a:chExt cx="438784" cy="438784"/>
          </a:xfrm>
        </p:grpSpPr>
        <p:sp>
          <p:nvSpPr>
            <p:cNvPr id="15" name="object 15"/>
            <p:cNvSpPr/>
            <p:nvPr/>
          </p:nvSpPr>
          <p:spPr>
            <a:xfrm>
              <a:off x="548068" y="2621594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3"/>
                  </a:lnTo>
                  <a:lnTo>
                    <a:pt x="48161" y="356343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3"/>
                  </a:lnTo>
                  <a:lnTo>
                    <a:pt x="356342" y="390293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2726823"/>
              <a:ext cx="227996" cy="22799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47842" y="2713559"/>
            <a:ext cx="154241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Easy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to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understand.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8068" y="3224469"/>
            <a:ext cx="438784" cy="438784"/>
            <a:chOff x="548068" y="3224469"/>
            <a:chExt cx="438784" cy="438784"/>
          </a:xfrm>
        </p:grpSpPr>
        <p:sp>
          <p:nvSpPr>
            <p:cNvPr id="19" name="object 19"/>
            <p:cNvSpPr/>
            <p:nvPr/>
          </p:nvSpPr>
          <p:spPr>
            <a:xfrm>
              <a:off x="548068" y="3224469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3"/>
                  </a:lnTo>
                  <a:lnTo>
                    <a:pt x="48161" y="356342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09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2"/>
                  </a:lnTo>
                  <a:lnTo>
                    <a:pt x="356342" y="390293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3329699"/>
              <a:ext cx="227996" cy="22799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47842" y="3316435"/>
            <a:ext cx="90043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Fast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to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A1D3C"/>
                </a:solidFill>
                <a:latin typeface="Calibri"/>
                <a:cs typeface="Calibri"/>
              </a:rPr>
              <a:t>use.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8068" y="3827345"/>
            <a:ext cx="438784" cy="438784"/>
            <a:chOff x="548068" y="3827345"/>
            <a:chExt cx="438784" cy="438784"/>
          </a:xfrm>
        </p:grpSpPr>
        <p:sp>
          <p:nvSpPr>
            <p:cNvPr id="23" name="object 23"/>
            <p:cNvSpPr/>
            <p:nvPr/>
          </p:nvSpPr>
          <p:spPr>
            <a:xfrm>
              <a:off x="548068" y="3827345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3"/>
                  </a:lnTo>
                  <a:lnTo>
                    <a:pt x="48161" y="356343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600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3"/>
                  </a:lnTo>
                  <a:lnTo>
                    <a:pt x="356342" y="390293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3932574"/>
              <a:ext cx="227996" cy="22799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247842" y="3919310"/>
            <a:ext cx="175323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Not</a:t>
            </a:r>
            <a:r>
              <a:rPr sz="1500" spc="-2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very</a:t>
            </a:r>
            <a:r>
              <a:rPr sz="1500" spc="-2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secure</a:t>
            </a:r>
            <a:r>
              <a:rPr sz="1500" spc="-2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today.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77639" y="1300393"/>
            <a:ext cx="5331460" cy="4371975"/>
            <a:chOff x="6377639" y="1300393"/>
            <a:chExt cx="5331460" cy="437197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7639" y="1300393"/>
              <a:ext cx="5330980" cy="437186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85476" y="1370171"/>
              <a:ext cx="5115560" cy="4156710"/>
            </a:xfrm>
            <a:custGeom>
              <a:avLst/>
              <a:gdLst/>
              <a:ahLst/>
              <a:cxnLst/>
              <a:rect l="l" t="t" r="r" b="b"/>
              <a:pathLst>
                <a:path w="5115559" h="4156710">
                  <a:moveTo>
                    <a:pt x="5005707" y="4156186"/>
                  </a:moveTo>
                  <a:lnTo>
                    <a:pt x="109599" y="4156186"/>
                  </a:lnTo>
                  <a:lnTo>
                    <a:pt x="66938" y="4147573"/>
                  </a:lnTo>
                  <a:lnTo>
                    <a:pt x="32100" y="4124085"/>
                  </a:lnTo>
                  <a:lnTo>
                    <a:pt x="8612" y="4089248"/>
                  </a:lnTo>
                  <a:lnTo>
                    <a:pt x="0" y="4046587"/>
                  </a:lnTo>
                  <a:lnTo>
                    <a:pt x="0" y="109598"/>
                  </a:lnTo>
                  <a:lnTo>
                    <a:pt x="8612" y="66937"/>
                  </a:lnTo>
                  <a:lnTo>
                    <a:pt x="32100" y="32100"/>
                  </a:lnTo>
                  <a:lnTo>
                    <a:pt x="66938" y="8612"/>
                  </a:lnTo>
                  <a:lnTo>
                    <a:pt x="109599" y="0"/>
                  </a:lnTo>
                  <a:lnTo>
                    <a:pt x="5005707" y="0"/>
                  </a:lnTo>
                  <a:lnTo>
                    <a:pt x="5047649" y="8342"/>
                  </a:lnTo>
                  <a:lnTo>
                    <a:pt x="5083205" y="32100"/>
                  </a:lnTo>
                  <a:lnTo>
                    <a:pt x="5106963" y="67657"/>
                  </a:lnTo>
                  <a:lnTo>
                    <a:pt x="5115305" y="109598"/>
                  </a:lnTo>
                  <a:lnTo>
                    <a:pt x="5115305" y="4046587"/>
                  </a:lnTo>
                  <a:lnTo>
                    <a:pt x="5106693" y="4089248"/>
                  </a:lnTo>
                  <a:lnTo>
                    <a:pt x="5083205" y="4124085"/>
                  </a:lnTo>
                  <a:lnTo>
                    <a:pt x="5048368" y="4147573"/>
                  </a:lnTo>
                  <a:lnTo>
                    <a:pt x="5005707" y="4156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85476" y="1370171"/>
              <a:ext cx="5115560" cy="4156710"/>
            </a:xfrm>
            <a:custGeom>
              <a:avLst/>
              <a:gdLst/>
              <a:ahLst/>
              <a:cxnLst/>
              <a:rect l="l" t="t" r="r" b="b"/>
              <a:pathLst>
                <a:path w="5115559" h="4156710">
                  <a:moveTo>
                    <a:pt x="0" y="109598"/>
                  </a:moveTo>
                  <a:lnTo>
                    <a:pt x="8612" y="66937"/>
                  </a:lnTo>
                  <a:lnTo>
                    <a:pt x="32100" y="32100"/>
                  </a:lnTo>
                  <a:lnTo>
                    <a:pt x="66938" y="8612"/>
                  </a:lnTo>
                  <a:lnTo>
                    <a:pt x="109599" y="0"/>
                  </a:lnTo>
                  <a:lnTo>
                    <a:pt x="5005707" y="0"/>
                  </a:lnTo>
                  <a:lnTo>
                    <a:pt x="5047649" y="8342"/>
                  </a:lnTo>
                  <a:lnTo>
                    <a:pt x="5083205" y="32100"/>
                  </a:lnTo>
                  <a:lnTo>
                    <a:pt x="5106963" y="67657"/>
                  </a:lnTo>
                  <a:lnTo>
                    <a:pt x="5115305" y="109598"/>
                  </a:lnTo>
                  <a:lnTo>
                    <a:pt x="5115305" y="4046587"/>
                  </a:lnTo>
                  <a:lnTo>
                    <a:pt x="5106693" y="4089248"/>
                  </a:lnTo>
                  <a:lnTo>
                    <a:pt x="5083205" y="4124085"/>
                  </a:lnTo>
                  <a:lnTo>
                    <a:pt x="5048368" y="4147573"/>
                  </a:lnTo>
                  <a:lnTo>
                    <a:pt x="5005707" y="4156186"/>
                  </a:lnTo>
                  <a:lnTo>
                    <a:pt x="109599" y="4156186"/>
                  </a:lnTo>
                  <a:lnTo>
                    <a:pt x="66938" y="4147573"/>
                  </a:lnTo>
                  <a:lnTo>
                    <a:pt x="32100" y="4124085"/>
                  </a:lnTo>
                  <a:lnTo>
                    <a:pt x="8612" y="4089248"/>
                  </a:lnTo>
                  <a:lnTo>
                    <a:pt x="0" y="4046587"/>
                  </a:lnTo>
                  <a:lnTo>
                    <a:pt x="0" y="109598"/>
                  </a:lnTo>
                  <a:close/>
                </a:path>
              </a:pathLst>
            </a:custGeom>
            <a:ln w="12686">
              <a:solidFill>
                <a:srgbClr val="DBE6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070083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70083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300954" y="2283871"/>
            <a:ext cx="18161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H</a:t>
            </a:r>
            <a:endParaRPr sz="2150">
              <a:latin typeface="Courier New"/>
              <a:cs typeface="Courier New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063733" y="2859090"/>
            <a:ext cx="670560" cy="956944"/>
            <a:chOff x="7063733" y="2859090"/>
            <a:chExt cx="670560" cy="956944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80176" y="2859090"/>
              <a:ext cx="237496" cy="2374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7070083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70083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7300954" y="3279260"/>
            <a:ext cx="19812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K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885835" y="2140251"/>
            <a:ext cx="670560" cy="1675764"/>
            <a:chOff x="7885835" y="2140251"/>
            <a:chExt cx="670560" cy="1675764"/>
          </a:xfrm>
        </p:grpSpPr>
        <p:sp>
          <p:nvSpPr>
            <p:cNvPr id="39" name="object 39"/>
            <p:cNvSpPr/>
            <p:nvPr/>
          </p:nvSpPr>
          <p:spPr>
            <a:xfrm>
              <a:off x="7892185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892185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02278" y="2859090"/>
              <a:ext cx="237496" cy="23749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892185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892185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8123056" y="3279260"/>
            <a:ext cx="18161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H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8707939" y="2140251"/>
            <a:ext cx="670560" cy="1675764"/>
            <a:chOff x="8707939" y="2140251"/>
            <a:chExt cx="670560" cy="1675764"/>
          </a:xfrm>
        </p:grpSpPr>
        <p:sp>
          <p:nvSpPr>
            <p:cNvPr id="46" name="object 46"/>
            <p:cNvSpPr/>
            <p:nvPr/>
          </p:nvSpPr>
          <p:spPr>
            <a:xfrm>
              <a:off x="8714289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8714289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24382" y="2859090"/>
              <a:ext cx="237495" cy="23749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714289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714289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945160" y="3279260"/>
            <a:ext cx="18923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O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9530041" y="2140251"/>
            <a:ext cx="670560" cy="670560"/>
            <a:chOff x="9530041" y="2140251"/>
            <a:chExt cx="670560" cy="670560"/>
          </a:xfrm>
        </p:grpSpPr>
        <p:sp>
          <p:nvSpPr>
            <p:cNvPr id="53" name="object 53"/>
            <p:cNvSpPr/>
            <p:nvPr/>
          </p:nvSpPr>
          <p:spPr>
            <a:xfrm>
              <a:off x="9536391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536391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848642" y="1615203"/>
            <a:ext cx="2390140" cy="10229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596A85"/>
                </a:solidFill>
                <a:latin typeface="Calibri"/>
                <a:cs typeface="Calibri"/>
              </a:rPr>
              <a:t>Caesar</a:t>
            </a:r>
            <a:r>
              <a:rPr sz="1300" b="1" spc="-4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596A85"/>
                </a:solidFill>
                <a:latin typeface="Calibri"/>
                <a:cs typeface="Calibri"/>
              </a:rPr>
              <a:t>Cipher</a:t>
            </a:r>
            <a:r>
              <a:rPr sz="1300" b="1" spc="-4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596A85"/>
                </a:solidFill>
                <a:latin typeface="Calibri"/>
                <a:cs typeface="Calibri"/>
              </a:rPr>
              <a:t>Example</a:t>
            </a:r>
            <a:r>
              <a:rPr sz="1300" b="1" spc="21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596A85"/>
                </a:solidFill>
                <a:latin typeface="Calibri"/>
                <a:cs typeface="Calibri"/>
              </a:rPr>
              <a:t>(shift</a:t>
            </a:r>
            <a:r>
              <a:rPr sz="1300" b="1" spc="-4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596A85"/>
                </a:solidFill>
                <a:latin typeface="Calibri"/>
                <a:cs typeface="Calibri"/>
              </a:rPr>
              <a:t>by</a:t>
            </a:r>
            <a:r>
              <a:rPr sz="1300" b="1" spc="-4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b="1" spc="-25" dirty="0">
                <a:solidFill>
                  <a:srgbClr val="596A85"/>
                </a:solidFill>
                <a:latin typeface="Calibri"/>
                <a:cs typeface="Calibri"/>
              </a:rPr>
              <a:t>3)</a:t>
            </a: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300">
              <a:latin typeface="Calibri"/>
              <a:cs typeface="Calibri"/>
            </a:endParaRPr>
          </a:p>
          <a:p>
            <a:pPr marR="14604" algn="ctr">
              <a:lnSpc>
                <a:spcPct val="100000"/>
              </a:lnSpc>
              <a:tabLst>
                <a:tab pos="821690" algn="l"/>
                <a:tab pos="1644014" algn="l"/>
              </a:tabLst>
            </a:pP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E</a:t>
            </a:r>
            <a:r>
              <a:rPr sz="2150" dirty="0">
                <a:solidFill>
                  <a:srgbClr val="0A1D3C"/>
                </a:solidFill>
                <a:latin typeface="Courier New"/>
                <a:cs typeface="Courier New"/>
              </a:rPr>
              <a:t>	</a:t>
            </a: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L</a:t>
            </a:r>
            <a:r>
              <a:rPr sz="2150" dirty="0">
                <a:solidFill>
                  <a:srgbClr val="0A1D3C"/>
                </a:solidFill>
                <a:latin typeface="Courier New"/>
                <a:cs typeface="Courier New"/>
              </a:rPr>
              <a:t>	</a:t>
            </a: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L</a:t>
            </a:r>
            <a:endParaRPr sz="2150">
              <a:latin typeface="Courier New"/>
              <a:cs typeface="Courier New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9530041" y="2859090"/>
            <a:ext cx="670560" cy="956944"/>
            <a:chOff x="9530041" y="2859090"/>
            <a:chExt cx="670560" cy="956944"/>
          </a:xfrm>
        </p:grpSpPr>
        <p:pic>
          <p:nvPicPr>
            <p:cNvPr id="57" name="object 5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746483" y="2859090"/>
              <a:ext cx="237496" cy="23749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9536391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536391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9767261" y="3279260"/>
            <a:ext cx="18923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O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352144" y="2140251"/>
            <a:ext cx="670560" cy="670560"/>
            <a:chOff x="10352144" y="2140251"/>
            <a:chExt cx="670560" cy="670560"/>
          </a:xfrm>
        </p:grpSpPr>
        <p:sp>
          <p:nvSpPr>
            <p:cNvPr id="62" name="object 62"/>
            <p:cNvSpPr/>
            <p:nvPr/>
          </p:nvSpPr>
          <p:spPr>
            <a:xfrm>
              <a:off x="10358494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358494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589365" y="2283871"/>
            <a:ext cx="18923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O</a:t>
            </a:r>
            <a:endParaRPr sz="2150">
              <a:latin typeface="Courier New"/>
              <a:cs typeface="Courier New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0352151" y="2859090"/>
            <a:ext cx="670560" cy="956944"/>
            <a:chOff x="10352151" y="2859090"/>
            <a:chExt cx="670560" cy="956944"/>
          </a:xfrm>
        </p:grpSpPr>
        <p:pic>
          <p:nvPicPr>
            <p:cNvPr id="66" name="object 6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68587" y="2859090"/>
              <a:ext cx="237496" cy="23749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10358494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0358494" y="3151393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589365" y="3279260"/>
            <a:ext cx="19431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026539" y="4194296"/>
            <a:ext cx="4025265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Position</a:t>
            </a:r>
            <a:r>
              <a:rPr sz="1200" i="1" spc="-3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of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each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letter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stays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fixed</a:t>
            </a:r>
            <a:r>
              <a:rPr sz="1200" i="1" spc="-3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—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only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the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letter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itself</a:t>
            </a:r>
            <a:r>
              <a:rPr sz="1200" i="1" spc="-3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596A85"/>
                </a:solidFill>
                <a:latin typeface="Calibri"/>
                <a:cs typeface="Calibri"/>
              </a:rPr>
              <a:t>changes.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801067" y="5081870"/>
            <a:ext cx="112649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596A85"/>
                </a:solidFill>
                <a:latin typeface="Calibri"/>
                <a:cs typeface="Calibri"/>
              </a:rPr>
              <a:t>Plaintext:</a:t>
            </a:r>
            <a:r>
              <a:rPr sz="1200" b="1" spc="2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1565BF"/>
                </a:solidFill>
                <a:latin typeface="Courier New"/>
                <a:cs typeface="Courier New"/>
              </a:rPr>
              <a:t>HELLO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076780" y="5081870"/>
            <a:ext cx="1214755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596A85"/>
                </a:solidFill>
                <a:latin typeface="Calibri"/>
                <a:cs typeface="Calibri"/>
              </a:rPr>
              <a:t>Encrypted:</a:t>
            </a:r>
            <a:r>
              <a:rPr sz="1200" b="1" spc="-1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0A1D3C"/>
                </a:solidFill>
                <a:latin typeface="Courier New"/>
                <a:cs typeface="Courier New"/>
              </a:rPr>
              <a:t>KHOOR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20" dirty="0">
                <a:solidFill>
                  <a:srgbClr val="0A1D3C"/>
                </a:solidFill>
              </a:rPr>
              <a:t>Transposition</a:t>
            </a:r>
            <a:r>
              <a:rPr sz="3200" spc="-105" dirty="0">
                <a:solidFill>
                  <a:srgbClr val="0A1D3C"/>
                </a:solidFill>
              </a:rPr>
              <a:t> </a:t>
            </a:r>
            <a:r>
              <a:rPr sz="3200" spc="-10" dirty="0">
                <a:solidFill>
                  <a:srgbClr val="0A1D3C"/>
                </a:solidFill>
              </a:rPr>
              <a:t>Cipher</a:t>
            </a:r>
            <a:endParaRPr sz="3200"/>
          </a:p>
        </p:txBody>
      </p:sp>
      <p:sp>
        <p:nvSpPr>
          <p:cNvPr id="74" name="object 74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CSA5110</a:t>
            </a:r>
            <a:r>
              <a:rPr spc="-15" dirty="0"/>
              <a:t> </a:t>
            </a:r>
            <a:r>
              <a:rPr dirty="0"/>
              <a:t>·</a:t>
            </a:r>
            <a:r>
              <a:rPr spc="-10" dirty="0"/>
              <a:t> Cryptography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75" name="object 7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870025" y="383647"/>
            <a:ext cx="685165" cy="685165"/>
            <a:chOff x="10870025" y="383647"/>
            <a:chExt cx="685165" cy="685165"/>
          </a:xfrm>
        </p:grpSpPr>
        <p:sp>
          <p:nvSpPr>
            <p:cNvPr id="4" name="object 4"/>
            <p:cNvSpPr/>
            <p:nvPr/>
          </p:nvSpPr>
          <p:spPr>
            <a:xfrm>
              <a:off x="10870025" y="383647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5" h="685165">
                  <a:moveTo>
                    <a:pt x="342542" y="685085"/>
                  </a:moveTo>
                  <a:lnTo>
                    <a:pt x="296061" y="681958"/>
                  </a:lnTo>
                  <a:lnTo>
                    <a:pt x="251481" y="672849"/>
                  </a:lnTo>
                  <a:lnTo>
                    <a:pt x="209209" y="658166"/>
                  </a:lnTo>
                  <a:lnTo>
                    <a:pt x="169654" y="638318"/>
                  </a:lnTo>
                  <a:lnTo>
                    <a:pt x="133224" y="613712"/>
                  </a:lnTo>
                  <a:lnTo>
                    <a:pt x="100328" y="584757"/>
                  </a:lnTo>
                  <a:lnTo>
                    <a:pt x="71372" y="551860"/>
                  </a:lnTo>
                  <a:lnTo>
                    <a:pt x="46767" y="515430"/>
                  </a:lnTo>
                  <a:lnTo>
                    <a:pt x="26918" y="475875"/>
                  </a:lnTo>
                  <a:lnTo>
                    <a:pt x="12235" y="433604"/>
                  </a:lnTo>
                  <a:lnTo>
                    <a:pt x="3127" y="389023"/>
                  </a:lnTo>
                  <a:lnTo>
                    <a:pt x="0" y="342542"/>
                  </a:lnTo>
                  <a:lnTo>
                    <a:pt x="3127" y="296061"/>
                  </a:lnTo>
                  <a:lnTo>
                    <a:pt x="12235" y="251481"/>
                  </a:lnTo>
                  <a:lnTo>
                    <a:pt x="26918" y="209209"/>
                  </a:lnTo>
                  <a:lnTo>
                    <a:pt x="46767" y="169654"/>
                  </a:lnTo>
                  <a:lnTo>
                    <a:pt x="71372" y="133225"/>
                  </a:lnTo>
                  <a:lnTo>
                    <a:pt x="100328" y="100328"/>
                  </a:lnTo>
                  <a:lnTo>
                    <a:pt x="133224" y="71373"/>
                  </a:lnTo>
                  <a:lnTo>
                    <a:pt x="169654" y="46767"/>
                  </a:lnTo>
                  <a:lnTo>
                    <a:pt x="209209" y="26918"/>
                  </a:lnTo>
                  <a:lnTo>
                    <a:pt x="251481" y="12235"/>
                  </a:lnTo>
                  <a:lnTo>
                    <a:pt x="296061" y="3127"/>
                  </a:lnTo>
                  <a:lnTo>
                    <a:pt x="342542" y="0"/>
                  </a:lnTo>
                  <a:lnTo>
                    <a:pt x="396451" y="4267"/>
                  </a:lnTo>
                  <a:lnTo>
                    <a:pt x="448547" y="16814"/>
                  </a:lnTo>
                  <a:lnTo>
                    <a:pt x="497909" y="37261"/>
                  </a:lnTo>
                  <a:lnTo>
                    <a:pt x="543619" y="65226"/>
                  </a:lnTo>
                  <a:lnTo>
                    <a:pt x="584756" y="100328"/>
                  </a:lnTo>
                  <a:lnTo>
                    <a:pt x="619858" y="141465"/>
                  </a:lnTo>
                  <a:lnTo>
                    <a:pt x="647823" y="187175"/>
                  </a:lnTo>
                  <a:lnTo>
                    <a:pt x="668270" y="236537"/>
                  </a:lnTo>
                  <a:lnTo>
                    <a:pt x="680818" y="288633"/>
                  </a:lnTo>
                  <a:lnTo>
                    <a:pt x="685085" y="342542"/>
                  </a:lnTo>
                  <a:lnTo>
                    <a:pt x="681958" y="389023"/>
                  </a:lnTo>
                  <a:lnTo>
                    <a:pt x="672849" y="433604"/>
                  </a:lnTo>
                  <a:lnTo>
                    <a:pt x="658166" y="475875"/>
                  </a:lnTo>
                  <a:lnTo>
                    <a:pt x="638318" y="515430"/>
                  </a:lnTo>
                  <a:lnTo>
                    <a:pt x="613712" y="551860"/>
                  </a:lnTo>
                  <a:lnTo>
                    <a:pt x="584756" y="584757"/>
                  </a:lnTo>
                  <a:lnTo>
                    <a:pt x="551860" y="613712"/>
                  </a:lnTo>
                  <a:lnTo>
                    <a:pt x="515430" y="638318"/>
                  </a:lnTo>
                  <a:lnTo>
                    <a:pt x="475875" y="658166"/>
                  </a:lnTo>
                  <a:lnTo>
                    <a:pt x="433604" y="672849"/>
                  </a:lnTo>
                  <a:lnTo>
                    <a:pt x="389023" y="681958"/>
                  </a:lnTo>
                  <a:lnTo>
                    <a:pt x="342542" y="68508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4446" y="548068"/>
              <a:ext cx="356244" cy="3562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48068" y="1415843"/>
            <a:ext cx="438784" cy="438784"/>
            <a:chOff x="548068" y="1415843"/>
            <a:chExt cx="438784" cy="438784"/>
          </a:xfrm>
        </p:grpSpPr>
        <p:sp>
          <p:nvSpPr>
            <p:cNvPr id="7" name="object 7"/>
            <p:cNvSpPr/>
            <p:nvPr/>
          </p:nvSpPr>
          <p:spPr>
            <a:xfrm>
              <a:off x="548068" y="1415843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2"/>
                  </a:lnTo>
                  <a:lnTo>
                    <a:pt x="48161" y="356342"/>
                  </a:lnTo>
                  <a:lnTo>
                    <a:pt x="22282" y="315637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7"/>
                  </a:lnTo>
                  <a:lnTo>
                    <a:pt x="390292" y="356342"/>
                  </a:lnTo>
                  <a:lnTo>
                    <a:pt x="356342" y="390292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1521072"/>
              <a:ext cx="227996" cy="22799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47842" y="1507809"/>
            <a:ext cx="18237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Keeps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5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same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letters.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8068" y="2018719"/>
            <a:ext cx="438784" cy="438784"/>
            <a:chOff x="548068" y="2018719"/>
            <a:chExt cx="438784" cy="438784"/>
          </a:xfrm>
        </p:grpSpPr>
        <p:sp>
          <p:nvSpPr>
            <p:cNvPr id="11" name="object 11"/>
            <p:cNvSpPr/>
            <p:nvPr/>
          </p:nvSpPr>
          <p:spPr>
            <a:xfrm>
              <a:off x="548068" y="2018719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2"/>
                  </a:lnTo>
                  <a:lnTo>
                    <a:pt x="48161" y="356342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2"/>
                  </a:lnTo>
                  <a:lnTo>
                    <a:pt x="356342" y="390292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2123948"/>
              <a:ext cx="227996" cy="227996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47842" y="2110684"/>
            <a:ext cx="222885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Changes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order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of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letters.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48068" y="2621594"/>
            <a:ext cx="438784" cy="438784"/>
            <a:chOff x="548068" y="2621594"/>
            <a:chExt cx="438784" cy="438784"/>
          </a:xfrm>
        </p:grpSpPr>
        <p:sp>
          <p:nvSpPr>
            <p:cNvPr id="15" name="object 15"/>
            <p:cNvSpPr/>
            <p:nvPr/>
          </p:nvSpPr>
          <p:spPr>
            <a:xfrm>
              <a:off x="548068" y="2621594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3"/>
                  </a:lnTo>
                  <a:lnTo>
                    <a:pt x="48161" y="356343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3"/>
                  </a:lnTo>
                  <a:lnTo>
                    <a:pt x="356342" y="390293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2726823"/>
              <a:ext cx="227996" cy="22799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47842" y="2713559"/>
            <a:ext cx="282067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Makes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the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message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difficult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to</a:t>
            </a:r>
            <a:r>
              <a:rPr sz="150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0A1D3C"/>
                </a:solidFill>
                <a:latin typeface="Calibri"/>
                <a:cs typeface="Calibri"/>
              </a:rPr>
              <a:t>read.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48068" y="3224469"/>
            <a:ext cx="438784" cy="438784"/>
            <a:chOff x="548068" y="3224469"/>
            <a:chExt cx="438784" cy="438784"/>
          </a:xfrm>
        </p:grpSpPr>
        <p:sp>
          <p:nvSpPr>
            <p:cNvPr id="19" name="object 19"/>
            <p:cNvSpPr/>
            <p:nvPr/>
          </p:nvSpPr>
          <p:spPr>
            <a:xfrm>
              <a:off x="548068" y="3224469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3"/>
                  </a:lnTo>
                  <a:lnTo>
                    <a:pt x="48161" y="356342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09"/>
                  </a:lnTo>
                  <a:lnTo>
                    <a:pt x="401621" y="97599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2"/>
                  </a:lnTo>
                  <a:lnTo>
                    <a:pt x="356342" y="390293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3329699"/>
              <a:ext cx="227996" cy="22799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247842" y="3316435"/>
            <a:ext cx="247142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Better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than</a:t>
            </a:r>
            <a:r>
              <a:rPr sz="150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simple</a:t>
            </a:r>
            <a:r>
              <a:rPr sz="1500" spc="-4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substitution.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48068" y="3827345"/>
            <a:ext cx="438784" cy="438784"/>
            <a:chOff x="548068" y="3827345"/>
            <a:chExt cx="438784" cy="438784"/>
          </a:xfrm>
        </p:grpSpPr>
        <p:sp>
          <p:nvSpPr>
            <p:cNvPr id="23" name="object 23"/>
            <p:cNvSpPr/>
            <p:nvPr/>
          </p:nvSpPr>
          <p:spPr>
            <a:xfrm>
              <a:off x="548068" y="3827345"/>
              <a:ext cx="438784" cy="438784"/>
            </a:xfrm>
            <a:custGeom>
              <a:avLst/>
              <a:gdLst/>
              <a:ahLst/>
              <a:cxnLst/>
              <a:rect l="l" t="t" r="r" b="b"/>
              <a:pathLst>
                <a:path w="438784" h="438785">
                  <a:moveTo>
                    <a:pt x="219227" y="438454"/>
                  </a:moveTo>
                  <a:lnTo>
                    <a:pt x="168960" y="432664"/>
                  </a:lnTo>
                  <a:lnTo>
                    <a:pt x="122816" y="416172"/>
                  </a:lnTo>
                  <a:lnTo>
                    <a:pt x="82111" y="390293"/>
                  </a:lnTo>
                  <a:lnTo>
                    <a:pt x="48161" y="356343"/>
                  </a:lnTo>
                  <a:lnTo>
                    <a:pt x="22282" y="315638"/>
                  </a:lnTo>
                  <a:lnTo>
                    <a:pt x="5789" y="269494"/>
                  </a:lnTo>
                  <a:lnTo>
                    <a:pt x="0" y="219227"/>
                  </a:lnTo>
                  <a:lnTo>
                    <a:pt x="5789" y="168960"/>
                  </a:lnTo>
                  <a:lnTo>
                    <a:pt x="22282" y="122816"/>
                  </a:lnTo>
                  <a:lnTo>
                    <a:pt x="48161" y="82111"/>
                  </a:lnTo>
                  <a:lnTo>
                    <a:pt x="82111" y="48161"/>
                  </a:lnTo>
                  <a:lnTo>
                    <a:pt x="122816" y="22282"/>
                  </a:lnTo>
                  <a:lnTo>
                    <a:pt x="168960" y="5789"/>
                  </a:lnTo>
                  <a:lnTo>
                    <a:pt x="219227" y="0"/>
                  </a:lnTo>
                  <a:lnTo>
                    <a:pt x="262196" y="4251"/>
                  </a:lnTo>
                  <a:lnTo>
                    <a:pt x="303122" y="16687"/>
                  </a:lnTo>
                  <a:lnTo>
                    <a:pt x="340854" y="36832"/>
                  </a:lnTo>
                  <a:lnTo>
                    <a:pt x="374244" y="64210"/>
                  </a:lnTo>
                  <a:lnTo>
                    <a:pt x="401621" y="97600"/>
                  </a:lnTo>
                  <a:lnTo>
                    <a:pt x="421767" y="135332"/>
                  </a:lnTo>
                  <a:lnTo>
                    <a:pt x="434203" y="176258"/>
                  </a:lnTo>
                  <a:lnTo>
                    <a:pt x="438454" y="219227"/>
                  </a:lnTo>
                  <a:lnTo>
                    <a:pt x="432664" y="269494"/>
                  </a:lnTo>
                  <a:lnTo>
                    <a:pt x="416172" y="315638"/>
                  </a:lnTo>
                  <a:lnTo>
                    <a:pt x="390292" y="356343"/>
                  </a:lnTo>
                  <a:lnTo>
                    <a:pt x="356342" y="390293"/>
                  </a:lnTo>
                  <a:lnTo>
                    <a:pt x="315638" y="416172"/>
                  </a:lnTo>
                  <a:lnTo>
                    <a:pt x="269494" y="432664"/>
                  </a:lnTo>
                  <a:lnTo>
                    <a:pt x="219227" y="438454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3297" y="3932574"/>
              <a:ext cx="227996" cy="22799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247842" y="3919310"/>
            <a:ext cx="2111375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Still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0A1D3C"/>
                </a:solidFill>
                <a:latin typeface="Calibri"/>
                <a:cs typeface="Calibri"/>
              </a:rPr>
              <a:t>not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completely</a:t>
            </a:r>
            <a:r>
              <a:rPr sz="150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0A1D3C"/>
                </a:solidFill>
                <a:latin typeface="Calibri"/>
                <a:cs typeface="Calibri"/>
              </a:rPr>
              <a:t>secure.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377639" y="1300393"/>
            <a:ext cx="5331460" cy="4371975"/>
            <a:chOff x="6377639" y="1300393"/>
            <a:chExt cx="5331460" cy="4371975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77639" y="1300393"/>
              <a:ext cx="5330980" cy="437186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485476" y="1370171"/>
              <a:ext cx="5115560" cy="4156710"/>
            </a:xfrm>
            <a:custGeom>
              <a:avLst/>
              <a:gdLst/>
              <a:ahLst/>
              <a:cxnLst/>
              <a:rect l="l" t="t" r="r" b="b"/>
              <a:pathLst>
                <a:path w="5115559" h="4156710">
                  <a:moveTo>
                    <a:pt x="5005707" y="4156186"/>
                  </a:moveTo>
                  <a:lnTo>
                    <a:pt x="109599" y="4156186"/>
                  </a:lnTo>
                  <a:lnTo>
                    <a:pt x="66938" y="4147573"/>
                  </a:lnTo>
                  <a:lnTo>
                    <a:pt x="32100" y="4124085"/>
                  </a:lnTo>
                  <a:lnTo>
                    <a:pt x="8612" y="4089248"/>
                  </a:lnTo>
                  <a:lnTo>
                    <a:pt x="0" y="4046587"/>
                  </a:lnTo>
                  <a:lnTo>
                    <a:pt x="0" y="109598"/>
                  </a:lnTo>
                  <a:lnTo>
                    <a:pt x="8612" y="66937"/>
                  </a:lnTo>
                  <a:lnTo>
                    <a:pt x="32100" y="32100"/>
                  </a:lnTo>
                  <a:lnTo>
                    <a:pt x="66938" y="8612"/>
                  </a:lnTo>
                  <a:lnTo>
                    <a:pt x="109599" y="0"/>
                  </a:lnTo>
                  <a:lnTo>
                    <a:pt x="5005707" y="0"/>
                  </a:lnTo>
                  <a:lnTo>
                    <a:pt x="5047649" y="8342"/>
                  </a:lnTo>
                  <a:lnTo>
                    <a:pt x="5083205" y="32100"/>
                  </a:lnTo>
                  <a:lnTo>
                    <a:pt x="5106963" y="67657"/>
                  </a:lnTo>
                  <a:lnTo>
                    <a:pt x="5115305" y="109598"/>
                  </a:lnTo>
                  <a:lnTo>
                    <a:pt x="5115305" y="4046587"/>
                  </a:lnTo>
                  <a:lnTo>
                    <a:pt x="5106693" y="4089248"/>
                  </a:lnTo>
                  <a:lnTo>
                    <a:pt x="5083205" y="4124085"/>
                  </a:lnTo>
                  <a:lnTo>
                    <a:pt x="5048368" y="4147573"/>
                  </a:lnTo>
                  <a:lnTo>
                    <a:pt x="5005707" y="4156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85476" y="1370171"/>
              <a:ext cx="5115560" cy="4156710"/>
            </a:xfrm>
            <a:custGeom>
              <a:avLst/>
              <a:gdLst/>
              <a:ahLst/>
              <a:cxnLst/>
              <a:rect l="l" t="t" r="r" b="b"/>
              <a:pathLst>
                <a:path w="5115559" h="4156710">
                  <a:moveTo>
                    <a:pt x="0" y="109598"/>
                  </a:moveTo>
                  <a:lnTo>
                    <a:pt x="8612" y="66937"/>
                  </a:lnTo>
                  <a:lnTo>
                    <a:pt x="32100" y="32100"/>
                  </a:lnTo>
                  <a:lnTo>
                    <a:pt x="66938" y="8612"/>
                  </a:lnTo>
                  <a:lnTo>
                    <a:pt x="109599" y="0"/>
                  </a:lnTo>
                  <a:lnTo>
                    <a:pt x="5005707" y="0"/>
                  </a:lnTo>
                  <a:lnTo>
                    <a:pt x="5047649" y="8342"/>
                  </a:lnTo>
                  <a:lnTo>
                    <a:pt x="5083205" y="32100"/>
                  </a:lnTo>
                  <a:lnTo>
                    <a:pt x="5106963" y="67657"/>
                  </a:lnTo>
                  <a:lnTo>
                    <a:pt x="5115305" y="109598"/>
                  </a:lnTo>
                  <a:lnTo>
                    <a:pt x="5115305" y="4046587"/>
                  </a:lnTo>
                  <a:lnTo>
                    <a:pt x="5106693" y="4089248"/>
                  </a:lnTo>
                  <a:lnTo>
                    <a:pt x="5083205" y="4124085"/>
                  </a:lnTo>
                  <a:lnTo>
                    <a:pt x="5048368" y="4147573"/>
                  </a:lnTo>
                  <a:lnTo>
                    <a:pt x="5005707" y="4156186"/>
                  </a:lnTo>
                  <a:lnTo>
                    <a:pt x="109599" y="4156186"/>
                  </a:lnTo>
                  <a:lnTo>
                    <a:pt x="66938" y="4147573"/>
                  </a:lnTo>
                  <a:lnTo>
                    <a:pt x="32100" y="4124085"/>
                  </a:lnTo>
                  <a:lnTo>
                    <a:pt x="8612" y="4089248"/>
                  </a:lnTo>
                  <a:lnTo>
                    <a:pt x="0" y="4046587"/>
                  </a:lnTo>
                  <a:lnTo>
                    <a:pt x="0" y="109598"/>
                  </a:lnTo>
                  <a:close/>
                </a:path>
              </a:pathLst>
            </a:custGeom>
            <a:ln w="12686">
              <a:solidFill>
                <a:srgbClr val="DBE6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401433" y="1616788"/>
            <a:ext cx="327469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b="1" spc="-10" dirty="0">
                <a:solidFill>
                  <a:srgbClr val="596A85"/>
                </a:solidFill>
                <a:latin typeface="Calibri"/>
                <a:cs typeface="Calibri"/>
              </a:rPr>
              <a:t>Letters</a:t>
            </a:r>
            <a:r>
              <a:rPr sz="1250" b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596A85"/>
                </a:solidFill>
                <a:latin typeface="Calibri"/>
                <a:cs typeface="Calibri"/>
              </a:rPr>
              <a:t>Reordered</a:t>
            </a:r>
            <a:r>
              <a:rPr sz="1250" b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596A85"/>
                </a:solidFill>
                <a:latin typeface="Calibri"/>
                <a:cs typeface="Calibri"/>
              </a:rPr>
              <a:t>—</a:t>
            </a:r>
            <a:r>
              <a:rPr sz="1250" b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596A85"/>
                </a:solidFill>
                <a:latin typeface="Calibri"/>
                <a:cs typeface="Calibri"/>
              </a:rPr>
              <a:t>Same</a:t>
            </a:r>
            <a:r>
              <a:rPr sz="1250" b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596A85"/>
                </a:solidFill>
                <a:latin typeface="Calibri"/>
                <a:cs typeface="Calibri"/>
              </a:rPr>
              <a:t>Letters,</a:t>
            </a:r>
            <a:r>
              <a:rPr sz="1250" b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596A85"/>
                </a:solidFill>
                <a:latin typeface="Calibri"/>
                <a:cs typeface="Calibri"/>
              </a:rPr>
              <a:t>New</a:t>
            </a:r>
            <a:r>
              <a:rPr sz="1250" b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50" b="1" spc="-10" dirty="0">
                <a:solidFill>
                  <a:srgbClr val="596A85"/>
                </a:solidFill>
                <a:latin typeface="Calibri"/>
                <a:cs typeface="Calibri"/>
              </a:rPr>
              <a:t>Positions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063733" y="2140251"/>
            <a:ext cx="3136900" cy="670560"/>
            <a:chOff x="7063733" y="2140251"/>
            <a:chExt cx="3136900" cy="670560"/>
          </a:xfrm>
        </p:grpSpPr>
        <p:sp>
          <p:nvSpPr>
            <p:cNvPr id="32" name="object 32"/>
            <p:cNvSpPr/>
            <p:nvPr/>
          </p:nvSpPr>
          <p:spPr>
            <a:xfrm>
              <a:off x="7070083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070083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892186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892186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714289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8714289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536391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536391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300954" y="2283871"/>
            <a:ext cx="26409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4390" algn="l"/>
                <a:tab pos="1656714" algn="l"/>
                <a:tab pos="2478405" algn="l"/>
              </a:tabLst>
            </a:pP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H</a:t>
            </a:r>
            <a:r>
              <a:rPr sz="2150" dirty="0">
                <a:solidFill>
                  <a:srgbClr val="0A1D3C"/>
                </a:solidFill>
                <a:latin typeface="Courier New"/>
                <a:cs typeface="Courier New"/>
              </a:rPr>
              <a:t>	</a:t>
            </a: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E</a:t>
            </a:r>
            <a:r>
              <a:rPr sz="2150" dirty="0">
                <a:solidFill>
                  <a:srgbClr val="0A1D3C"/>
                </a:solidFill>
                <a:latin typeface="Courier New"/>
                <a:cs typeface="Courier New"/>
              </a:rPr>
              <a:t>	</a:t>
            </a: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L</a:t>
            </a:r>
            <a:r>
              <a:rPr sz="2150" dirty="0">
                <a:solidFill>
                  <a:srgbClr val="0A1D3C"/>
                </a:solidFill>
                <a:latin typeface="Courier New"/>
                <a:cs typeface="Courier New"/>
              </a:rPr>
              <a:t>	</a:t>
            </a:r>
            <a:r>
              <a:rPr sz="2150" spc="-65" dirty="0">
                <a:solidFill>
                  <a:srgbClr val="0A1D3C"/>
                </a:solidFill>
                <a:latin typeface="Courier New"/>
                <a:cs typeface="Courier New"/>
              </a:rPr>
              <a:t>L</a:t>
            </a:r>
            <a:endParaRPr sz="2150">
              <a:latin typeface="Courier New"/>
              <a:cs typeface="Courier New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0352144" y="2140251"/>
            <a:ext cx="670560" cy="670560"/>
            <a:chOff x="10352144" y="2140251"/>
            <a:chExt cx="670560" cy="670560"/>
          </a:xfrm>
        </p:grpSpPr>
        <p:sp>
          <p:nvSpPr>
            <p:cNvPr id="42" name="object 42"/>
            <p:cNvSpPr/>
            <p:nvPr/>
          </p:nvSpPr>
          <p:spPr>
            <a:xfrm>
              <a:off x="10358494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E7F0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358494" y="2146601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1565B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589365" y="2283871"/>
            <a:ext cx="189230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50" dirty="0">
                <a:solidFill>
                  <a:srgbClr val="0A1D3C"/>
                </a:solidFill>
                <a:latin typeface="Courier New"/>
                <a:cs typeface="Courier New"/>
              </a:rPr>
              <a:t>O</a:t>
            </a:r>
            <a:endParaRPr sz="2150">
              <a:latin typeface="Courier New"/>
              <a:cs typeface="Courier New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7063733" y="2886103"/>
            <a:ext cx="3623945" cy="1085215"/>
            <a:chOff x="7063733" y="2886103"/>
            <a:chExt cx="3623945" cy="1085215"/>
          </a:xfrm>
        </p:grpSpPr>
        <p:sp>
          <p:nvSpPr>
            <p:cNvPr id="46" name="object 46"/>
            <p:cNvSpPr/>
            <p:nvPr/>
          </p:nvSpPr>
          <p:spPr>
            <a:xfrm>
              <a:off x="7398924" y="2895628"/>
              <a:ext cx="1644650" cy="0"/>
            </a:xfrm>
            <a:custGeom>
              <a:avLst/>
              <a:gdLst/>
              <a:ahLst/>
              <a:cxnLst/>
              <a:rect l="l" t="t" r="r" b="b"/>
              <a:pathLst>
                <a:path w="1644650">
                  <a:moveTo>
                    <a:pt x="0" y="0"/>
                  </a:moveTo>
                  <a:lnTo>
                    <a:pt x="1644205" y="0"/>
                  </a:lnTo>
                </a:path>
              </a:pathLst>
            </a:custGeom>
            <a:ln w="19030">
              <a:solidFill>
                <a:srgbClr val="00D9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398918" y="2886125"/>
              <a:ext cx="824230" cy="19050"/>
            </a:xfrm>
            <a:custGeom>
              <a:avLst/>
              <a:gdLst/>
              <a:ahLst/>
              <a:cxnLst/>
              <a:rect l="l" t="t" r="r" b="b"/>
              <a:pathLst>
                <a:path w="824229" h="19050">
                  <a:moveTo>
                    <a:pt x="76123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76123" y="19024"/>
                  </a:lnTo>
                  <a:lnTo>
                    <a:pt x="76123" y="0"/>
                  </a:lnTo>
                  <a:close/>
                </a:path>
                <a:path w="824229" h="19050">
                  <a:moveTo>
                    <a:pt x="824115" y="0"/>
                  </a:moveTo>
                  <a:lnTo>
                    <a:pt x="822109" y="0"/>
                  </a:lnTo>
                  <a:lnTo>
                    <a:pt x="822109" y="19024"/>
                  </a:lnTo>
                  <a:lnTo>
                    <a:pt x="824115" y="19024"/>
                  </a:lnTo>
                  <a:lnTo>
                    <a:pt x="824115" y="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32135" y="2895628"/>
              <a:ext cx="3075305" cy="0"/>
            </a:xfrm>
            <a:custGeom>
              <a:avLst/>
              <a:gdLst/>
              <a:ahLst/>
              <a:cxnLst/>
              <a:rect l="l" t="t" r="r" b="b"/>
              <a:pathLst>
                <a:path w="3075304">
                  <a:moveTo>
                    <a:pt x="0" y="0"/>
                  </a:moveTo>
                  <a:lnTo>
                    <a:pt x="1510994" y="0"/>
                  </a:lnTo>
                </a:path>
                <a:path w="3075304">
                  <a:moveTo>
                    <a:pt x="2333097" y="0"/>
                  </a:moveTo>
                  <a:lnTo>
                    <a:pt x="3075273" y="0"/>
                  </a:lnTo>
                </a:path>
              </a:pathLst>
            </a:custGeom>
            <a:ln w="19030">
              <a:solidFill>
                <a:srgbClr val="00D9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865233" y="2886125"/>
              <a:ext cx="822325" cy="19050"/>
            </a:xfrm>
            <a:custGeom>
              <a:avLst/>
              <a:gdLst/>
              <a:ahLst/>
              <a:cxnLst/>
              <a:rect l="l" t="t" r="r" b="b"/>
              <a:pathLst>
                <a:path w="822325" h="19050">
                  <a:moveTo>
                    <a:pt x="76111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76111" y="19024"/>
                  </a:lnTo>
                  <a:lnTo>
                    <a:pt x="76111" y="0"/>
                  </a:lnTo>
                  <a:close/>
                </a:path>
                <a:path w="822325" h="19050">
                  <a:moveTo>
                    <a:pt x="822096" y="0"/>
                  </a:moveTo>
                  <a:lnTo>
                    <a:pt x="799261" y="0"/>
                  </a:lnTo>
                  <a:lnTo>
                    <a:pt x="799261" y="19024"/>
                  </a:lnTo>
                  <a:lnTo>
                    <a:pt x="822096" y="19024"/>
                  </a:lnTo>
                  <a:lnTo>
                    <a:pt x="822096" y="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998444" y="2895628"/>
              <a:ext cx="608965" cy="0"/>
            </a:xfrm>
            <a:custGeom>
              <a:avLst/>
              <a:gdLst/>
              <a:ahLst/>
              <a:cxnLst/>
              <a:rect l="l" t="t" r="r" b="b"/>
              <a:pathLst>
                <a:path w="608965">
                  <a:moveTo>
                    <a:pt x="0" y="0"/>
                  </a:moveTo>
                  <a:lnTo>
                    <a:pt x="608964" y="0"/>
                  </a:lnTo>
                </a:path>
              </a:pathLst>
            </a:custGeom>
            <a:ln w="19030">
              <a:solidFill>
                <a:srgbClr val="00D9F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664499" y="2886113"/>
              <a:ext cx="22860" cy="19050"/>
            </a:xfrm>
            <a:custGeom>
              <a:avLst/>
              <a:gdLst/>
              <a:ahLst/>
              <a:cxnLst/>
              <a:rect l="l" t="t" r="r" b="b"/>
              <a:pathLst>
                <a:path w="22859" h="19050">
                  <a:moveTo>
                    <a:pt x="22835" y="19030"/>
                  </a:moveTo>
                  <a:lnTo>
                    <a:pt x="0" y="19030"/>
                  </a:lnTo>
                  <a:lnTo>
                    <a:pt x="0" y="0"/>
                  </a:lnTo>
                  <a:lnTo>
                    <a:pt x="22835" y="0"/>
                  </a:lnTo>
                  <a:lnTo>
                    <a:pt x="22835" y="19030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070083" y="3306680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070083" y="3306680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7300954" y="3434545"/>
            <a:ext cx="17462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100" dirty="0">
                <a:solidFill>
                  <a:srgbClr val="00D9FF"/>
                </a:solidFill>
                <a:latin typeface="Courier New"/>
                <a:cs typeface="Courier New"/>
              </a:rPr>
              <a:t>L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885835" y="3300329"/>
            <a:ext cx="670560" cy="670560"/>
            <a:chOff x="7885835" y="3300329"/>
            <a:chExt cx="670560" cy="670560"/>
          </a:xfrm>
        </p:grpSpPr>
        <p:sp>
          <p:nvSpPr>
            <p:cNvPr id="56" name="object 56"/>
            <p:cNvSpPr/>
            <p:nvPr/>
          </p:nvSpPr>
          <p:spPr>
            <a:xfrm>
              <a:off x="7892185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892185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2" y="16051"/>
                  </a:lnTo>
                  <a:lnTo>
                    <a:pt x="33472" y="4306"/>
                  </a:lnTo>
                  <a:lnTo>
                    <a:pt x="54805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6" y="624209"/>
                  </a:lnTo>
                  <a:lnTo>
                    <a:pt x="641630" y="641630"/>
                  </a:lnTo>
                  <a:lnTo>
                    <a:pt x="624210" y="653375"/>
                  </a:lnTo>
                  <a:lnTo>
                    <a:pt x="602877" y="657682"/>
                  </a:lnTo>
                  <a:lnTo>
                    <a:pt x="54805" y="657682"/>
                  </a:lnTo>
                  <a:lnTo>
                    <a:pt x="33472" y="653375"/>
                  </a:lnTo>
                  <a:lnTo>
                    <a:pt x="16052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8123056" y="3434545"/>
            <a:ext cx="17526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95" dirty="0">
                <a:solidFill>
                  <a:srgbClr val="00D9FF"/>
                </a:solidFill>
                <a:latin typeface="Courier New"/>
                <a:cs typeface="Courier New"/>
              </a:rPr>
              <a:t>E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8707939" y="3300329"/>
            <a:ext cx="670560" cy="670560"/>
            <a:chOff x="8707939" y="3300329"/>
            <a:chExt cx="670560" cy="670560"/>
          </a:xfrm>
        </p:grpSpPr>
        <p:sp>
          <p:nvSpPr>
            <p:cNvPr id="60" name="object 60"/>
            <p:cNvSpPr/>
            <p:nvPr/>
          </p:nvSpPr>
          <p:spPr>
            <a:xfrm>
              <a:off x="8714289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714289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945160" y="3434545"/>
            <a:ext cx="18161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H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9530041" y="3300329"/>
            <a:ext cx="670560" cy="670560"/>
            <a:chOff x="9530041" y="3300329"/>
            <a:chExt cx="670560" cy="670560"/>
          </a:xfrm>
        </p:grpSpPr>
        <p:sp>
          <p:nvSpPr>
            <p:cNvPr id="64" name="object 64"/>
            <p:cNvSpPr/>
            <p:nvPr/>
          </p:nvSpPr>
          <p:spPr>
            <a:xfrm>
              <a:off x="9536391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9536391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9767261" y="3434545"/>
            <a:ext cx="18923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50" dirty="0">
                <a:solidFill>
                  <a:srgbClr val="00D9FF"/>
                </a:solidFill>
                <a:latin typeface="Courier New"/>
                <a:cs typeface="Courier New"/>
              </a:rPr>
              <a:t>O</a:t>
            </a:r>
            <a:endParaRPr sz="2200">
              <a:latin typeface="Courier New"/>
              <a:cs typeface="Courier New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0352151" y="3300336"/>
            <a:ext cx="670560" cy="670560"/>
            <a:chOff x="10352151" y="3300336"/>
            <a:chExt cx="670560" cy="670560"/>
          </a:xfrm>
        </p:grpSpPr>
        <p:sp>
          <p:nvSpPr>
            <p:cNvPr id="68" name="object 68"/>
            <p:cNvSpPr/>
            <p:nvPr/>
          </p:nvSpPr>
          <p:spPr>
            <a:xfrm>
              <a:off x="10358494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602877" y="657682"/>
                  </a:move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0358494" y="3306679"/>
              <a:ext cx="657860" cy="657860"/>
            </a:xfrm>
            <a:custGeom>
              <a:avLst/>
              <a:gdLst/>
              <a:ahLst/>
              <a:cxnLst/>
              <a:rect l="l" t="t" r="r" b="b"/>
              <a:pathLst>
                <a:path w="657859" h="657860">
                  <a:moveTo>
                    <a:pt x="0" y="54804"/>
                  </a:moveTo>
                  <a:lnTo>
                    <a:pt x="4306" y="33472"/>
                  </a:lnTo>
                  <a:lnTo>
                    <a:pt x="16051" y="16051"/>
                  </a:lnTo>
                  <a:lnTo>
                    <a:pt x="33472" y="4306"/>
                  </a:lnTo>
                  <a:lnTo>
                    <a:pt x="54804" y="0"/>
                  </a:lnTo>
                  <a:lnTo>
                    <a:pt x="602877" y="0"/>
                  </a:lnTo>
                  <a:lnTo>
                    <a:pt x="641630" y="16051"/>
                  </a:lnTo>
                  <a:lnTo>
                    <a:pt x="657682" y="54804"/>
                  </a:lnTo>
                  <a:lnTo>
                    <a:pt x="657682" y="602877"/>
                  </a:lnTo>
                  <a:lnTo>
                    <a:pt x="653375" y="624209"/>
                  </a:lnTo>
                  <a:lnTo>
                    <a:pt x="641630" y="641630"/>
                  </a:lnTo>
                  <a:lnTo>
                    <a:pt x="624209" y="653375"/>
                  </a:lnTo>
                  <a:lnTo>
                    <a:pt x="602877" y="657682"/>
                  </a:lnTo>
                  <a:lnTo>
                    <a:pt x="54804" y="657682"/>
                  </a:lnTo>
                  <a:lnTo>
                    <a:pt x="33472" y="653375"/>
                  </a:lnTo>
                  <a:lnTo>
                    <a:pt x="16051" y="641630"/>
                  </a:lnTo>
                  <a:lnTo>
                    <a:pt x="4306" y="624209"/>
                  </a:lnTo>
                  <a:lnTo>
                    <a:pt x="0" y="602877"/>
                  </a:lnTo>
                  <a:lnTo>
                    <a:pt x="0" y="54804"/>
                  </a:lnTo>
                  <a:close/>
                </a:path>
              </a:pathLst>
            </a:custGeom>
            <a:ln w="12686">
              <a:solidFill>
                <a:srgbClr val="0A1D3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0589365" y="3434545"/>
            <a:ext cx="17462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spc="-100" dirty="0">
                <a:solidFill>
                  <a:srgbClr val="00D9FF"/>
                </a:solidFill>
                <a:latin typeface="Courier New"/>
                <a:cs typeface="Courier New"/>
              </a:rPr>
              <a:t>L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78414" y="4308477"/>
            <a:ext cx="2909570" cy="208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Same</a:t>
            </a:r>
            <a:r>
              <a:rPr sz="1200" i="1" spc="-3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5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letters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—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only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their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order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596A85"/>
                </a:solidFill>
                <a:latin typeface="Calibri"/>
                <a:cs typeface="Calibri"/>
              </a:rPr>
              <a:t>has</a:t>
            </a:r>
            <a:r>
              <a:rPr sz="1200" i="1" spc="-2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596A85"/>
                </a:solidFill>
                <a:latin typeface="Calibri"/>
                <a:cs typeface="Calibri"/>
              </a:rPr>
              <a:t>changed.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801067" y="5127542"/>
            <a:ext cx="112649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solidFill>
                  <a:srgbClr val="596A85"/>
                </a:solidFill>
                <a:latin typeface="Calibri"/>
                <a:cs typeface="Calibri"/>
              </a:rPr>
              <a:t>Plaintext:</a:t>
            </a:r>
            <a:r>
              <a:rPr sz="1200" b="1" spc="20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1565BF"/>
                </a:solidFill>
                <a:latin typeface="Courier New"/>
                <a:cs typeface="Courier New"/>
              </a:rPr>
              <a:t>HELLO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076780" y="5127542"/>
            <a:ext cx="1202690" cy="222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solidFill>
                  <a:srgbClr val="596A85"/>
                </a:solidFill>
                <a:latin typeface="Calibri"/>
                <a:cs typeface="Calibri"/>
              </a:rPr>
              <a:t>Encrypted:</a:t>
            </a:r>
            <a:r>
              <a:rPr sz="1200" b="1" spc="-15" dirty="0">
                <a:solidFill>
                  <a:srgbClr val="596A85"/>
                </a:solidFill>
                <a:latin typeface="Calibri"/>
                <a:cs typeface="Calibri"/>
              </a:rPr>
              <a:t> </a:t>
            </a:r>
            <a:r>
              <a:rPr sz="1300" spc="-45" dirty="0">
                <a:solidFill>
                  <a:srgbClr val="0A1D3C"/>
                </a:solidFill>
                <a:latin typeface="Courier New"/>
                <a:cs typeface="Courier New"/>
              </a:rPr>
              <a:t>LEHOL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000" spc="-10" dirty="0">
                <a:solidFill>
                  <a:srgbClr val="0A1D3C"/>
                </a:solidFill>
              </a:rPr>
              <a:t>Substitution</a:t>
            </a:r>
            <a:r>
              <a:rPr sz="3000" spc="-55" dirty="0">
                <a:solidFill>
                  <a:srgbClr val="0A1D3C"/>
                </a:solidFill>
              </a:rPr>
              <a:t> </a:t>
            </a:r>
            <a:r>
              <a:rPr sz="3000" dirty="0">
                <a:solidFill>
                  <a:srgbClr val="0A1D3C"/>
                </a:solidFill>
              </a:rPr>
              <a:t>vs</a:t>
            </a:r>
            <a:r>
              <a:rPr sz="3000" spc="-50" dirty="0">
                <a:solidFill>
                  <a:srgbClr val="0A1D3C"/>
                </a:solidFill>
              </a:rPr>
              <a:t> </a:t>
            </a:r>
            <a:r>
              <a:rPr sz="3000" spc="-10" dirty="0">
                <a:solidFill>
                  <a:srgbClr val="0A1D3C"/>
                </a:solidFill>
              </a:rPr>
              <a:t>Transposition</a:t>
            </a:r>
            <a:endParaRPr sz="3000"/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CSA5110</a:t>
            </a:r>
            <a:r>
              <a:rPr spc="-15" dirty="0"/>
              <a:t> </a:t>
            </a:r>
            <a:r>
              <a:rPr dirty="0"/>
              <a:t>·</a:t>
            </a:r>
            <a:r>
              <a:rPr spc="-10" dirty="0"/>
              <a:t> Cryptography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10870025" y="365379"/>
            <a:ext cx="685165" cy="685165"/>
            <a:chOff x="10870025" y="365379"/>
            <a:chExt cx="685165" cy="685165"/>
          </a:xfrm>
        </p:grpSpPr>
        <p:sp>
          <p:nvSpPr>
            <p:cNvPr id="4" name="object 4"/>
            <p:cNvSpPr/>
            <p:nvPr/>
          </p:nvSpPr>
          <p:spPr>
            <a:xfrm>
              <a:off x="10870025" y="365379"/>
              <a:ext cx="685165" cy="685165"/>
            </a:xfrm>
            <a:custGeom>
              <a:avLst/>
              <a:gdLst/>
              <a:ahLst/>
              <a:cxnLst/>
              <a:rect l="l" t="t" r="r" b="b"/>
              <a:pathLst>
                <a:path w="685165" h="685165">
                  <a:moveTo>
                    <a:pt x="342542" y="685085"/>
                  </a:moveTo>
                  <a:lnTo>
                    <a:pt x="296061" y="681958"/>
                  </a:lnTo>
                  <a:lnTo>
                    <a:pt x="251481" y="672849"/>
                  </a:lnTo>
                  <a:lnTo>
                    <a:pt x="209209" y="658166"/>
                  </a:lnTo>
                  <a:lnTo>
                    <a:pt x="169654" y="638318"/>
                  </a:lnTo>
                  <a:lnTo>
                    <a:pt x="133224" y="613712"/>
                  </a:lnTo>
                  <a:lnTo>
                    <a:pt x="100328" y="584757"/>
                  </a:lnTo>
                  <a:lnTo>
                    <a:pt x="71372" y="551860"/>
                  </a:lnTo>
                  <a:lnTo>
                    <a:pt x="46767" y="515430"/>
                  </a:lnTo>
                  <a:lnTo>
                    <a:pt x="26918" y="475875"/>
                  </a:lnTo>
                  <a:lnTo>
                    <a:pt x="12235" y="433604"/>
                  </a:lnTo>
                  <a:lnTo>
                    <a:pt x="3127" y="389023"/>
                  </a:lnTo>
                  <a:lnTo>
                    <a:pt x="0" y="342542"/>
                  </a:lnTo>
                  <a:lnTo>
                    <a:pt x="3127" y="296061"/>
                  </a:lnTo>
                  <a:lnTo>
                    <a:pt x="12235" y="251481"/>
                  </a:lnTo>
                  <a:lnTo>
                    <a:pt x="26918" y="209209"/>
                  </a:lnTo>
                  <a:lnTo>
                    <a:pt x="46767" y="169654"/>
                  </a:lnTo>
                  <a:lnTo>
                    <a:pt x="71372" y="133225"/>
                  </a:lnTo>
                  <a:lnTo>
                    <a:pt x="100328" y="100328"/>
                  </a:lnTo>
                  <a:lnTo>
                    <a:pt x="133224" y="71373"/>
                  </a:lnTo>
                  <a:lnTo>
                    <a:pt x="169654" y="46767"/>
                  </a:lnTo>
                  <a:lnTo>
                    <a:pt x="209209" y="26918"/>
                  </a:lnTo>
                  <a:lnTo>
                    <a:pt x="251481" y="12235"/>
                  </a:lnTo>
                  <a:lnTo>
                    <a:pt x="296061" y="3127"/>
                  </a:lnTo>
                  <a:lnTo>
                    <a:pt x="342542" y="0"/>
                  </a:lnTo>
                  <a:lnTo>
                    <a:pt x="396451" y="4267"/>
                  </a:lnTo>
                  <a:lnTo>
                    <a:pt x="448547" y="16814"/>
                  </a:lnTo>
                  <a:lnTo>
                    <a:pt x="497909" y="37261"/>
                  </a:lnTo>
                  <a:lnTo>
                    <a:pt x="543619" y="65226"/>
                  </a:lnTo>
                  <a:lnTo>
                    <a:pt x="584756" y="100328"/>
                  </a:lnTo>
                  <a:lnTo>
                    <a:pt x="619858" y="141465"/>
                  </a:lnTo>
                  <a:lnTo>
                    <a:pt x="647823" y="187175"/>
                  </a:lnTo>
                  <a:lnTo>
                    <a:pt x="668270" y="236537"/>
                  </a:lnTo>
                  <a:lnTo>
                    <a:pt x="680818" y="288633"/>
                  </a:lnTo>
                  <a:lnTo>
                    <a:pt x="685085" y="342542"/>
                  </a:lnTo>
                  <a:lnTo>
                    <a:pt x="681958" y="389023"/>
                  </a:lnTo>
                  <a:lnTo>
                    <a:pt x="672849" y="433604"/>
                  </a:lnTo>
                  <a:lnTo>
                    <a:pt x="658166" y="475875"/>
                  </a:lnTo>
                  <a:lnTo>
                    <a:pt x="638318" y="515430"/>
                  </a:lnTo>
                  <a:lnTo>
                    <a:pt x="613712" y="551860"/>
                  </a:lnTo>
                  <a:lnTo>
                    <a:pt x="584756" y="584757"/>
                  </a:lnTo>
                  <a:lnTo>
                    <a:pt x="551860" y="613712"/>
                  </a:lnTo>
                  <a:lnTo>
                    <a:pt x="515430" y="638318"/>
                  </a:lnTo>
                  <a:lnTo>
                    <a:pt x="475875" y="658166"/>
                  </a:lnTo>
                  <a:lnTo>
                    <a:pt x="433604" y="672849"/>
                  </a:lnTo>
                  <a:lnTo>
                    <a:pt x="389023" y="681958"/>
                  </a:lnTo>
                  <a:lnTo>
                    <a:pt x="342542" y="68508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34446" y="529799"/>
              <a:ext cx="356244" cy="35624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465604" y="1176063"/>
            <a:ext cx="5326380" cy="3408045"/>
            <a:chOff x="465604" y="1176063"/>
            <a:chExt cx="5326380" cy="34080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604" y="1176063"/>
              <a:ext cx="5325906" cy="34076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8068" y="1233154"/>
              <a:ext cx="5161280" cy="3242945"/>
            </a:xfrm>
            <a:custGeom>
              <a:avLst/>
              <a:gdLst/>
              <a:ahLst/>
              <a:cxnLst/>
              <a:rect l="l" t="t" r="r" b="b"/>
              <a:pathLst>
                <a:path w="5161280" h="3242945">
                  <a:moveTo>
                    <a:pt x="5051373" y="3242738"/>
                  </a:moveTo>
                  <a:lnTo>
                    <a:pt x="109604" y="3242738"/>
                  </a:lnTo>
                  <a:lnTo>
                    <a:pt x="66941" y="3234125"/>
                  </a:lnTo>
                  <a:lnTo>
                    <a:pt x="32102" y="3210636"/>
                  </a:lnTo>
                  <a:lnTo>
                    <a:pt x="8613" y="3175796"/>
                  </a:lnTo>
                  <a:lnTo>
                    <a:pt x="0" y="3133133"/>
                  </a:lnTo>
                  <a:lnTo>
                    <a:pt x="0" y="109604"/>
                  </a:lnTo>
                  <a:lnTo>
                    <a:pt x="8613" y="66941"/>
                  </a:lnTo>
                  <a:lnTo>
                    <a:pt x="32102" y="32102"/>
                  </a:lnTo>
                  <a:lnTo>
                    <a:pt x="66941" y="8613"/>
                  </a:lnTo>
                  <a:lnTo>
                    <a:pt x="109604" y="0"/>
                  </a:lnTo>
                  <a:lnTo>
                    <a:pt x="5051373" y="0"/>
                  </a:lnTo>
                  <a:lnTo>
                    <a:pt x="5093317" y="8343"/>
                  </a:lnTo>
                  <a:lnTo>
                    <a:pt x="5128875" y="32102"/>
                  </a:lnTo>
                  <a:lnTo>
                    <a:pt x="5152635" y="67660"/>
                  </a:lnTo>
                  <a:lnTo>
                    <a:pt x="5160978" y="109604"/>
                  </a:lnTo>
                  <a:lnTo>
                    <a:pt x="5160978" y="3133133"/>
                  </a:lnTo>
                  <a:lnTo>
                    <a:pt x="5152365" y="3175796"/>
                  </a:lnTo>
                  <a:lnTo>
                    <a:pt x="5128875" y="3210636"/>
                  </a:lnTo>
                  <a:lnTo>
                    <a:pt x="5094036" y="3234125"/>
                  </a:lnTo>
                  <a:lnTo>
                    <a:pt x="5051373" y="32427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8068" y="1233154"/>
              <a:ext cx="5161280" cy="3242945"/>
            </a:xfrm>
            <a:custGeom>
              <a:avLst/>
              <a:gdLst/>
              <a:ahLst/>
              <a:cxnLst/>
              <a:rect l="l" t="t" r="r" b="b"/>
              <a:pathLst>
                <a:path w="5161280" h="3242945">
                  <a:moveTo>
                    <a:pt x="0" y="109604"/>
                  </a:moveTo>
                  <a:lnTo>
                    <a:pt x="8613" y="66941"/>
                  </a:lnTo>
                  <a:lnTo>
                    <a:pt x="32102" y="32102"/>
                  </a:lnTo>
                  <a:lnTo>
                    <a:pt x="66941" y="8613"/>
                  </a:lnTo>
                  <a:lnTo>
                    <a:pt x="109604" y="0"/>
                  </a:lnTo>
                  <a:lnTo>
                    <a:pt x="5051373" y="0"/>
                  </a:lnTo>
                  <a:lnTo>
                    <a:pt x="5093317" y="8343"/>
                  </a:lnTo>
                  <a:lnTo>
                    <a:pt x="5128875" y="32102"/>
                  </a:lnTo>
                  <a:lnTo>
                    <a:pt x="5152635" y="67660"/>
                  </a:lnTo>
                  <a:lnTo>
                    <a:pt x="5160978" y="109604"/>
                  </a:lnTo>
                  <a:lnTo>
                    <a:pt x="5160978" y="3133133"/>
                  </a:lnTo>
                  <a:lnTo>
                    <a:pt x="5152365" y="3175796"/>
                  </a:lnTo>
                  <a:lnTo>
                    <a:pt x="5128875" y="3210636"/>
                  </a:lnTo>
                  <a:lnTo>
                    <a:pt x="5094036" y="3234125"/>
                  </a:lnTo>
                  <a:lnTo>
                    <a:pt x="5051373" y="3242738"/>
                  </a:lnTo>
                  <a:lnTo>
                    <a:pt x="109604" y="3242738"/>
                  </a:lnTo>
                  <a:lnTo>
                    <a:pt x="66941" y="3234125"/>
                  </a:lnTo>
                  <a:lnTo>
                    <a:pt x="32102" y="3210636"/>
                  </a:lnTo>
                  <a:lnTo>
                    <a:pt x="8613" y="3175796"/>
                  </a:lnTo>
                  <a:lnTo>
                    <a:pt x="0" y="3133133"/>
                  </a:lnTo>
                  <a:lnTo>
                    <a:pt x="0" y="109604"/>
                  </a:lnTo>
                  <a:close/>
                </a:path>
              </a:pathLst>
            </a:custGeom>
            <a:ln w="12686">
              <a:solidFill>
                <a:srgbClr val="DBE6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2102" y="148891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034" y="548068"/>
                  </a:moveTo>
                  <a:lnTo>
                    <a:pt x="224776" y="543653"/>
                  </a:lnTo>
                  <a:lnTo>
                    <a:pt x="178414" y="530924"/>
                  </a:lnTo>
                  <a:lnTo>
                    <a:pt x="135723" y="510654"/>
                  </a:lnTo>
                  <a:lnTo>
                    <a:pt x="97477" y="483619"/>
                  </a:lnTo>
                  <a:lnTo>
                    <a:pt x="64449" y="450591"/>
                  </a:lnTo>
                  <a:lnTo>
                    <a:pt x="37413" y="412344"/>
                  </a:lnTo>
                  <a:lnTo>
                    <a:pt x="17144" y="369653"/>
                  </a:lnTo>
                  <a:lnTo>
                    <a:pt x="4415" y="323292"/>
                  </a:lnTo>
                  <a:lnTo>
                    <a:pt x="0" y="274034"/>
                  </a:lnTo>
                  <a:lnTo>
                    <a:pt x="4415" y="224776"/>
                  </a:lnTo>
                  <a:lnTo>
                    <a:pt x="17144" y="178414"/>
                  </a:lnTo>
                  <a:lnTo>
                    <a:pt x="37413" y="135723"/>
                  </a:lnTo>
                  <a:lnTo>
                    <a:pt x="64449" y="97477"/>
                  </a:lnTo>
                  <a:lnTo>
                    <a:pt x="97477" y="64449"/>
                  </a:lnTo>
                  <a:lnTo>
                    <a:pt x="135723" y="37413"/>
                  </a:lnTo>
                  <a:lnTo>
                    <a:pt x="178414" y="17144"/>
                  </a:lnTo>
                  <a:lnTo>
                    <a:pt x="224776" y="4415"/>
                  </a:lnTo>
                  <a:lnTo>
                    <a:pt x="274034" y="0"/>
                  </a:lnTo>
                  <a:lnTo>
                    <a:pt x="327745" y="5314"/>
                  </a:lnTo>
                  <a:lnTo>
                    <a:pt x="378902" y="20859"/>
                  </a:lnTo>
                  <a:lnTo>
                    <a:pt x="426068" y="46041"/>
                  </a:lnTo>
                  <a:lnTo>
                    <a:pt x="467805" y="80262"/>
                  </a:lnTo>
                  <a:lnTo>
                    <a:pt x="502027" y="121999"/>
                  </a:lnTo>
                  <a:lnTo>
                    <a:pt x="527208" y="169165"/>
                  </a:lnTo>
                  <a:lnTo>
                    <a:pt x="542754" y="220323"/>
                  </a:lnTo>
                  <a:lnTo>
                    <a:pt x="548068" y="274034"/>
                  </a:lnTo>
                  <a:lnTo>
                    <a:pt x="543653" y="323292"/>
                  </a:lnTo>
                  <a:lnTo>
                    <a:pt x="530924" y="369653"/>
                  </a:lnTo>
                  <a:lnTo>
                    <a:pt x="510654" y="412344"/>
                  </a:lnTo>
                  <a:lnTo>
                    <a:pt x="483619" y="450591"/>
                  </a:lnTo>
                  <a:lnTo>
                    <a:pt x="450591" y="483619"/>
                  </a:lnTo>
                  <a:lnTo>
                    <a:pt x="412344" y="510654"/>
                  </a:lnTo>
                  <a:lnTo>
                    <a:pt x="369653" y="530924"/>
                  </a:lnTo>
                  <a:lnTo>
                    <a:pt x="323292" y="543653"/>
                  </a:lnTo>
                  <a:lnTo>
                    <a:pt x="274034" y="548068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3639" y="1620456"/>
              <a:ext cx="284995" cy="28499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585818" y="1594840"/>
            <a:ext cx="13887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0A1D3C"/>
                </a:solidFill>
                <a:latin typeface="Cambria"/>
                <a:cs typeface="Cambria"/>
              </a:rPr>
              <a:t>Substitution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67775" y="2192273"/>
            <a:ext cx="311150" cy="1900555"/>
            <a:chOff x="867775" y="2192273"/>
            <a:chExt cx="311150" cy="1900555"/>
          </a:xfrm>
        </p:grpSpPr>
        <p:sp>
          <p:nvSpPr>
            <p:cNvPr id="14" name="object 14"/>
            <p:cNvSpPr/>
            <p:nvPr/>
          </p:nvSpPr>
          <p:spPr>
            <a:xfrm>
              <a:off x="867775" y="2192273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312" y="2266811"/>
              <a:ext cx="161497" cy="16149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67775" y="2722073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312" y="2796610"/>
              <a:ext cx="161497" cy="16149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7775" y="3251873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312" y="3326410"/>
              <a:ext cx="161497" cy="1614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7775" y="378167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6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6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6" y="280611"/>
                  </a:lnTo>
                  <a:lnTo>
                    <a:pt x="204368" y="302655"/>
                  </a:lnTo>
                  <a:lnTo>
                    <a:pt x="155286" y="310572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2312" y="3856209"/>
              <a:ext cx="161497" cy="16149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03128" y="2225246"/>
            <a:ext cx="109220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Changes</a:t>
            </a:r>
            <a:r>
              <a:rPr sz="1350" spc="-7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letters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3128" y="2755046"/>
            <a:ext cx="13474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Easy</a:t>
            </a:r>
            <a:r>
              <a:rPr sz="135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to</a:t>
            </a:r>
            <a:r>
              <a:rPr sz="135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understand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03128" y="3284845"/>
            <a:ext cx="975994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Easy</a:t>
            </a:r>
            <a:r>
              <a:rPr sz="135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to</a:t>
            </a:r>
            <a:r>
              <a:rPr sz="1350" spc="-3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attack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3128" y="3814645"/>
            <a:ext cx="1659889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Example:</a:t>
            </a:r>
            <a:r>
              <a:rPr sz="135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Caesar</a:t>
            </a:r>
            <a:r>
              <a:rPr sz="135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Cipher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1961" y="1176063"/>
            <a:ext cx="5326380" cy="3408045"/>
            <a:chOff x="5991961" y="1176063"/>
            <a:chExt cx="5326380" cy="3408045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961" y="1176063"/>
              <a:ext cx="5325906" cy="34076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074426" y="1233154"/>
              <a:ext cx="5161280" cy="3242945"/>
            </a:xfrm>
            <a:custGeom>
              <a:avLst/>
              <a:gdLst/>
              <a:ahLst/>
              <a:cxnLst/>
              <a:rect l="l" t="t" r="r" b="b"/>
              <a:pathLst>
                <a:path w="5161280" h="3242945">
                  <a:moveTo>
                    <a:pt x="5051373" y="3242738"/>
                  </a:moveTo>
                  <a:lnTo>
                    <a:pt x="109604" y="3242738"/>
                  </a:lnTo>
                  <a:lnTo>
                    <a:pt x="66941" y="3234125"/>
                  </a:lnTo>
                  <a:lnTo>
                    <a:pt x="32102" y="3210636"/>
                  </a:lnTo>
                  <a:lnTo>
                    <a:pt x="8613" y="3175796"/>
                  </a:lnTo>
                  <a:lnTo>
                    <a:pt x="0" y="3133133"/>
                  </a:lnTo>
                  <a:lnTo>
                    <a:pt x="0" y="109604"/>
                  </a:lnTo>
                  <a:lnTo>
                    <a:pt x="8613" y="66941"/>
                  </a:lnTo>
                  <a:lnTo>
                    <a:pt x="32102" y="32102"/>
                  </a:lnTo>
                  <a:lnTo>
                    <a:pt x="66941" y="8613"/>
                  </a:lnTo>
                  <a:lnTo>
                    <a:pt x="109604" y="0"/>
                  </a:lnTo>
                  <a:lnTo>
                    <a:pt x="5051373" y="0"/>
                  </a:lnTo>
                  <a:lnTo>
                    <a:pt x="5093317" y="8343"/>
                  </a:lnTo>
                  <a:lnTo>
                    <a:pt x="5128876" y="32102"/>
                  </a:lnTo>
                  <a:lnTo>
                    <a:pt x="5152635" y="67660"/>
                  </a:lnTo>
                  <a:lnTo>
                    <a:pt x="5160978" y="109604"/>
                  </a:lnTo>
                  <a:lnTo>
                    <a:pt x="5160978" y="3133133"/>
                  </a:lnTo>
                  <a:lnTo>
                    <a:pt x="5152364" y="3175796"/>
                  </a:lnTo>
                  <a:lnTo>
                    <a:pt x="5128875" y="3210636"/>
                  </a:lnTo>
                  <a:lnTo>
                    <a:pt x="5094036" y="3234125"/>
                  </a:lnTo>
                  <a:lnTo>
                    <a:pt x="5051373" y="32427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74426" y="1233154"/>
              <a:ext cx="5161280" cy="3242945"/>
            </a:xfrm>
            <a:custGeom>
              <a:avLst/>
              <a:gdLst/>
              <a:ahLst/>
              <a:cxnLst/>
              <a:rect l="l" t="t" r="r" b="b"/>
              <a:pathLst>
                <a:path w="5161280" h="3242945">
                  <a:moveTo>
                    <a:pt x="0" y="109604"/>
                  </a:moveTo>
                  <a:lnTo>
                    <a:pt x="8613" y="66941"/>
                  </a:lnTo>
                  <a:lnTo>
                    <a:pt x="32102" y="32102"/>
                  </a:lnTo>
                  <a:lnTo>
                    <a:pt x="66941" y="8613"/>
                  </a:lnTo>
                  <a:lnTo>
                    <a:pt x="109604" y="0"/>
                  </a:lnTo>
                  <a:lnTo>
                    <a:pt x="5051373" y="0"/>
                  </a:lnTo>
                  <a:lnTo>
                    <a:pt x="5093317" y="8343"/>
                  </a:lnTo>
                  <a:lnTo>
                    <a:pt x="5128876" y="32102"/>
                  </a:lnTo>
                  <a:lnTo>
                    <a:pt x="5152635" y="67660"/>
                  </a:lnTo>
                  <a:lnTo>
                    <a:pt x="5160978" y="109604"/>
                  </a:lnTo>
                  <a:lnTo>
                    <a:pt x="5160978" y="3133133"/>
                  </a:lnTo>
                  <a:lnTo>
                    <a:pt x="5152364" y="3175796"/>
                  </a:lnTo>
                  <a:lnTo>
                    <a:pt x="5128875" y="3210636"/>
                  </a:lnTo>
                  <a:lnTo>
                    <a:pt x="5094036" y="3234125"/>
                  </a:lnTo>
                  <a:lnTo>
                    <a:pt x="5051373" y="3242738"/>
                  </a:lnTo>
                  <a:lnTo>
                    <a:pt x="109604" y="3242738"/>
                  </a:lnTo>
                  <a:lnTo>
                    <a:pt x="66941" y="3234125"/>
                  </a:lnTo>
                  <a:lnTo>
                    <a:pt x="32102" y="3210636"/>
                  </a:lnTo>
                  <a:lnTo>
                    <a:pt x="8613" y="3175796"/>
                  </a:lnTo>
                  <a:lnTo>
                    <a:pt x="0" y="3133133"/>
                  </a:lnTo>
                  <a:lnTo>
                    <a:pt x="0" y="109604"/>
                  </a:lnTo>
                  <a:close/>
                </a:path>
              </a:pathLst>
            </a:custGeom>
            <a:ln w="12686">
              <a:solidFill>
                <a:srgbClr val="DBE6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348460" y="1488919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034" y="548068"/>
                  </a:moveTo>
                  <a:lnTo>
                    <a:pt x="224776" y="543653"/>
                  </a:lnTo>
                  <a:lnTo>
                    <a:pt x="178414" y="530924"/>
                  </a:lnTo>
                  <a:lnTo>
                    <a:pt x="135723" y="510654"/>
                  </a:lnTo>
                  <a:lnTo>
                    <a:pt x="97477" y="483619"/>
                  </a:lnTo>
                  <a:lnTo>
                    <a:pt x="64449" y="450591"/>
                  </a:lnTo>
                  <a:lnTo>
                    <a:pt x="37413" y="412344"/>
                  </a:lnTo>
                  <a:lnTo>
                    <a:pt x="17144" y="369653"/>
                  </a:lnTo>
                  <a:lnTo>
                    <a:pt x="4415" y="323292"/>
                  </a:lnTo>
                  <a:lnTo>
                    <a:pt x="0" y="274034"/>
                  </a:lnTo>
                  <a:lnTo>
                    <a:pt x="4415" y="224776"/>
                  </a:lnTo>
                  <a:lnTo>
                    <a:pt x="17144" y="178414"/>
                  </a:lnTo>
                  <a:lnTo>
                    <a:pt x="37413" y="135723"/>
                  </a:lnTo>
                  <a:lnTo>
                    <a:pt x="64449" y="97477"/>
                  </a:lnTo>
                  <a:lnTo>
                    <a:pt x="97477" y="64449"/>
                  </a:lnTo>
                  <a:lnTo>
                    <a:pt x="135723" y="37413"/>
                  </a:lnTo>
                  <a:lnTo>
                    <a:pt x="178414" y="17144"/>
                  </a:lnTo>
                  <a:lnTo>
                    <a:pt x="224776" y="4415"/>
                  </a:lnTo>
                  <a:lnTo>
                    <a:pt x="274034" y="0"/>
                  </a:lnTo>
                  <a:lnTo>
                    <a:pt x="327745" y="5314"/>
                  </a:lnTo>
                  <a:lnTo>
                    <a:pt x="378902" y="20859"/>
                  </a:lnTo>
                  <a:lnTo>
                    <a:pt x="426068" y="46041"/>
                  </a:lnTo>
                  <a:lnTo>
                    <a:pt x="467805" y="80262"/>
                  </a:lnTo>
                  <a:lnTo>
                    <a:pt x="502027" y="121999"/>
                  </a:lnTo>
                  <a:lnTo>
                    <a:pt x="527209" y="169165"/>
                  </a:lnTo>
                  <a:lnTo>
                    <a:pt x="542754" y="220323"/>
                  </a:lnTo>
                  <a:lnTo>
                    <a:pt x="548068" y="274034"/>
                  </a:lnTo>
                  <a:lnTo>
                    <a:pt x="543653" y="323292"/>
                  </a:lnTo>
                  <a:lnTo>
                    <a:pt x="530924" y="369653"/>
                  </a:lnTo>
                  <a:lnTo>
                    <a:pt x="510655" y="412344"/>
                  </a:lnTo>
                  <a:lnTo>
                    <a:pt x="483619" y="450591"/>
                  </a:lnTo>
                  <a:lnTo>
                    <a:pt x="450591" y="483619"/>
                  </a:lnTo>
                  <a:lnTo>
                    <a:pt x="412344" y="510654"/>
                  </a:lnTo>
                  <a:lnTo>
                    <a:pt x="369653" y="530924"/>
                  </a:lnTo>
                  <a:lnTo>
                    <a:pt x="323292" y="543653"/>
                  </a:lnTo>
                  <a:lnTo>
                    <a:pt x="274034" y="548068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9996" y="1620456"/>
              <a:ext cx="284995" cy="284995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112175" y="1594840"/>
            <a:ext cx="157797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b="1" spc="-10" dirty="0">
                <a:solidFill>
                  <a:srgbClr val="0A1D3C"/>
                </a:solidFill>
                <a:latin typeface="Cambria"/>
                <a:cs typeface="Cambria"/>
              </a:rPr>
              <a:t>Transposition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394132" y="2192273"/>
            <a:ext cx="311150" cy="1900555"/>
            <a:chOff x="6394132" y="2192273"/>
            <a:chExt cx="311150" cy="1900555"/>
          </a:xfrm>
        </p:grpSpPr>
        <p:sp>
          <p:nvSpPr>
            <p:cNvPr id="34" name="object 34"/>
            <p:cNvSpPr/>
            <p:nvPr/>
          </p:nvSpPr>
          <p:spPr>
            <a:xfrm>
              <a:off x="6394132" y="2192273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5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5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5" y="280611"/>
                  </a:lnTo>
                  <a:lnTo>
                    <a:pt x="204368" y="302655"/>
                  </a:lnTo>
                  <a:lnTo>
                    <a:pt x="155285" y="31057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8669" y="2266811"/>
              <a:ext cx="161497" cy="16149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394132" y="2722073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5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5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5" y="280611"/>
                  </a:lnTo>
                  <a:lnTo>
                    <a:pt x="204368" y="302655"/>
                  </a:lnTo>
                  <a:lnTo>
                    <a:pt x="155285" y="31057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8669" y="2796610"/>
              <a:ext cx="161497" cy="16149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4132" y="3251873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5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5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5" y="280611"/>
                  </a:lnTo>
                  <a:lnTo>
                    <a:pt x="204368" y="302655"/>
                  </a:lnTo>
                  <a:lnTo>
                    <a:pt x="155285" y="31057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8669" y="3326410"/>
              <a:ext cx="161497" cy="161497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394132" y="3781672"/>
              <a:ext cx="311150" cy="311150"/>
            </a:xfrm>
            <a:custGeom>
              <a:avLst/>
              <a:gdLst/>
              <a:ahLst/>
              <a:cxnLst/>
              <a:rect l="l" t="t" r="r" b="b"/>
              <a:pathLst>
                <a:path w="311150" h="311150">
                  <a:moveTo>
                    <a:pt x="155285" y="310572"/>
                  </a:moveTo>
                  <a:lnTo>
                    <a:pt x="106203" y="302655"/>
                  </a:lnTo>
                  <a:lnTo>
                    <a:pt x="63576" y="280611"/>
                  </a:lnTo>
                  <a:lnTo>
                    <a:pt x="29961" y="246996"/>
                  </a:lnTo>
                  <a:lnTo>
                    <a:pt x="7916" y="204368"/>
                  </a:lnTo>
                  <a:lnTo>
                    <a:pt x="0" y="155286"/>
                  </a:lnTo>
                  <a:lnTo>
                    <a:pt x="7916" y="106203"/>
                  </a:lnTo>
                  <a:lnTo>
                    <a:pt x="29961" y="63576"/>
                  </a:lnTo>
                  <a:lnTo>
                    <a:pt x="63576" y="29961"/>
                  </a:lnTo>
                  <a:lnTo>
                    <a:pt x="106203" y="7916"/>
                  </a:lnTo>
                  <a:lnTo>
                    <a:pt x="155285" y="0"/>
                  </a:lnTo>
                  <a:lnTo>
                    <a:pt x="185722" y="3011"/>
                  </a:lnTo>
                  <a:lnTo>
                    <a:pt x="241438" y="26089"/>
                  </a:lnTo>
                  <a:lnTo>
                    <a:pt x="284482" y="69133"/>
                  </a:lnTo>
                  <a:lnTo>
                    <a:pt x="307560" y="124849"/>
                  </a:lnTo>
                  <a:lnTo>
                    <a:pt x="310572" y="155286"/>
                  </a:lnTo>
                  <a:lnTo>
                    <a:pt x="302655" y="204368"/>
                  </a:lnTo>
                  <a:lnTo>
                    <a:pt x="280610" y="246996"/>
                  </a:lnTo>
                  <a:lnTo>
                    <a:pt x="246995" y="280611"/>
                  </a:lnTo>
                  <a:lnTo>
                    <a:pt x="204368" y="302655"/>
                  </a:lnTo>
                  <a:lnTo>
                    <a:pt x="155285" y="310572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8669" y="3856209"/>
              <a:ext cx="161497" cy="16149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6929485" y="2225246"/>
            <a:ext cx="127952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Changes</a:t>
            </a:r>
            <a:r>
              <a:rPr sz="1350" spc="-7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positions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929485" y="2755046"/>
            <a:ext cx="102933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Slightly</a:t>
            </a:r>
            <a:r>
              <a:rPr sz="1350" spc="-5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harder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29485" y="3284845"/>
            <a:ext cx="901065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More</a:t>
            </a:r>
            <a:r>
              <a:rPr sz="1350" spc="-5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secure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929485" y="3814645"/>
            <a:ext cx="1893570" cy="231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Example:</a:t>
            </a:r>
            <a:r>
              <a:rPr sz="135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Rail</a:t>
            </a:r>
            <a:r>
              <a:rPr sz="135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A1D3C"/>
                </a:solidFill>
                <a:latin typeface="Calibri"/>
                <a:cs typeface="Calibri"/>
              </a:rPr>
              <a:t>Fence</a:t>
            </a:r>
            <a:r>
              <a:rPr sz="1350" spc="-40" dirty="0">
                <a:solidFill>
                  <a:srgbClr val="0A1D3C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0A1D3C"/>
                </a:solidFill>
                <a:latin typeface="Calibri"/>
                <a:cs typeface="Calibri"/>
              </a:rPr>
              <a:t>Cipher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548068" y="4795599"/>
            <a:ext cx="10687685" cy="1050925"/>
            <a:chOff x="548068" y="4795599"/>
            <a:chExt cx="10687685" cy="1050925"/>
          </a:xfrm>
        </p:grpSpPr>
        <p:sp>
          <p:nvSpPr>
            <p:cNvPr id="47" name="object 47"/>
            <p:cNvSpPr/>
            <p:nvPr/>
          </p:nvSpPr>
          <p:spPr>
            <a:xfrm>
              <a:off x="548068" y="4795599"/>
              <a:ext cx="10687685" cy="1050925"/>
            </a:xfrm>
            <a:custGeom>
              <a:avLst/>
              <a:gdLst/>
              <a:ahLst/>
              <a:cxnLst/>
              <a:rect l="l" t="t" r="r" b="b"/>
              <a:pathLst>
                <a:path w="10687685" h="1050925">
                  <a:moveTo>
                    <a:pt x="10577719" y="1050464"/>
                  </a:moveTo>
                  <a:lnTo>
                    <a:pt x="109615" y="1050464"/>
                  </a:lnTo>
                  <a:lnTo>
                    <a:pt x="66948" y="1041850"/>
                  </a:lnTo>
                  <a:lnTo>
                    <a:pt x="32105" y="1018358"/>
                  </a:lnTo>
                  <a:lnTo>
                    <a:pt x="8614" y="983516"/>
                  </a:lnTo>
                  <a:lnTo>
                    <a:pt x="0" y="940848"/>
                  </a:lnTo>
                  <a:lnTo>
                    <a:pt x="0" y="109616"/>
                  </a:lnTo>
                  <a:lnTo>
                    <a:pt x="8614" y="66948"/>
                  </a:lnTo>
                  <a:lnTo>
                    <a:pt x="32105" y="32105"/>
                  </a:lnTo>
                  <a:lnTo>
                    <a:pt x="66948" y="8614"/>
                  </a:lnTo>
                  <a:lnTo>
                    <a:pt x="109615" y="0"/>
                  </a:lnTo>
                  <a:lnTo>
                    <a:pt x="10577719" y="0"/>
                  </a:lnTo>
                  <a:lnTo>
                    <a:pt x="10619667" y="8344"/>
                  </a:lnTo>
                  <a:lnTo>
                    <a:pt x="10655229" y="32105"/>
                  </a:lnTo>
                  <a:lnTo>
                    <a:pt x="10678991" y="67667"/>
                  </a:lnTo>
                  <a:lnTo>
                    <a:pt x="10687335" y="109616"/>
                  </a:lnTo>
                  <a:lnTo>
                    <a:pt x="10687335" y="940848"/>
                  </a:lnTo>
                  <a:lnTo>
                    <a:pt x="10678721" y="983516"/>
                  </a:lnTo>
                  <a:lnTo>
                    <a:pt x="10655230" y="1018358"/>
                  </a:lnTo>
                  <a:lnTo>
                    <a:pt x="10620387" y="1041850"/>
                  </a:lnTo>
                  <a:lnTo>
                    <a:pt x="10577719" y="1050464"/>
                  </a:lnTo>
                  <a:close/>
                </a:path>
              </a:pathLst>
            </a:custGeom>
            <a:solidFill>
              <a:srgbClr val="0A1D3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67775" y="505136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39">
                  <a:moveTo>
                    <a:pt x="274034" y="548068"/>
                  </a:moveTo>
                  <a:lnTo>
                    <a:pt x="224776" y="543653"/>
                  </a:lnTo>
                  <a:lnTo>
                    <a:pt x="178414" y="530924"/>
                  </a:lnTo>
                  <a:lnTo>
                    <a:pt x="135723" y="510654"/>
                  </a:lnTo>
                  <a:lnTo>
                    <a:pt x="97477" y="483619"/>
                  </a:lnTo>
                  <a:lnTo>
                    <a:pt x="64449" y="450591"/>
                  </a:lnTo>
                  <a:lnTo>
                    <a:pt x="37413" y="412344"/>
                  </a:lnTo>
                  <a:lnTo>
                    <a:pt x="17144" y="369653"/>
                  </a:lnTo>
                  <a:lnTo>
                    <a:pt x="4415" y="323292"/>
                  </a:lnTo>
                  <a:lnTo>
                    <a:pt x="0" y="274034"/>
                  </a:lnTo>
                  <a:lnTo>
                    <a:pt x="4415" y="224776"/>
                  </a:lnTo>
                  <a:lnTo>
                    <a:pt x="17144" y="178414"/>
                  </a:lnTo>
                  <a:lnTo>
                    <a:pt x="37413" y="135723"/>
                  </a:lnTo>
                  <a:lnTo>
                    <a:pt x="64449" y="97477"/>
                  </a:lnTo>
                  <a:lnTo>
                    <a:pt x="97477" y="64449"/>
                  </a:lnTo>
                  <a:lnTo>
                    <a:pt x="135723" y="37413"/>
                  </a:lnTo>
                  <a:lnTo>
                    <a:pt x="178414" y="17144"/>
                  </a:lnTo>
                  <a:lnTo>
                    <a:pt x="224776" y="4415"/>
                  </a:lnTo>
                  <a:lnTo>
                    <a:pt x="274034" y="0"/>
                  </a:lnTo>
                  <a:lnTo>
                    <a:pt x="327745" y="5314"/>
                  </a:lnTo>
                  <a:lnTo>
                    <a:pt x="378902" y="20859"/>
                  </a:lnTo>
                  <a:lnTo>
                    <a:pt x="426068" y="46040"/>
                  </a:lnTo>
                  <a:lnTo>
                    <a:pt x="467805" y="80262"/>
                  </a:lnTo>
                  <a:lnTo>
                    <a:pt x="502027" y="121999"/>
                  </a:lnTo>
                  <a:lnTo>
                    <a:pt x="527208" y="169165"/>
                  </a:lnTo>
                  <a:lnTo>
                    <a:pt x="542754" y="220323"/>
                  </a:lnTo>
                  <a:lnTo>
                    <a:pt x="548068" y="274034"/>
                  </a:lnTo>
                  <a:lnTo>
                    <a:pt x="543653" y="323292"/>
                  </a:lnTo>
                  <a:lnTo>
                    <a:pt x="530924" y="369653"/>
                  </a:lnTo>
                  <a:lnTo>
                    <a:pt x="510654" y="412344"/>
                  </a:lnTo>
                  <a:lnTo>
                    <a:pt x="483619" y="450591"/>
                  </a:lnTo>
                  <a:lnTo>
                    <a:pt x="450591" y="483619"/>
                  </a:lnTo>
                  <a:lnTo>
                    <a:pt x="412344" y="510654"/>
                  </a:lnTo>
                  <a:lnTo>
                    <a:pt x="369653" y="530924"/>
                  </a:lnTo>
                  <a:lnTo>
                    <a:pt x="323292" y="543653"/>
                  </a:lnTo>
                  <a:lnTo>
                    <a:pt x="274034" y="548068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9311" y="5182901"/>
              <a:ext cx="284995" cy="284995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677162" y="5188241"/>
            <a:ext cx="7322184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b="1" dirty="0">
                <a:solidFill>
                  <a:srgbClr val="00D9FF"/>
                </a:solidFill>
                <a:latin typeface="Calibri"/>
                <a:cs typeface="Calibri"/>
              </a:rPr>
              <a:t>Which</a:t>
            </a:r>
            <a:r>
              <a:rPr sz="1500" b="1" spc="-4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D9FF"/>
                </a:solidFill>
                <a:latin typeface="Calibri"/>
                <a:cs typeface="Calibri"/>
              </a:rPr>
              <a:t>is</a:t>
            </a:r>
            <a:r>
              <a:rPr sz="1500" b="1" spc="-40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00D9FF"/>
                </a:solidFill>
                <a:latin typeface="Calibri"/>
                <a:cs typeface="Calibri"/>
              </a:rPr>
              <a:t>Better?</a:t>
            </a:r>
            <a:r>
              <a:rPr sz="1500" b="1" spc="26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Neither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alone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fully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secure.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Using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00D9FF"/>
                </a:solidFill>
                <a:latin typeface="Calibri"/>
                <a:cs typeface="Calibri"/>
              </a:rPr>
              <a:t>both</a:t>
            </a:r>
            <a:r>
              <a:rPr sz="1350" b="1" spc="-40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00D9FF"/>
                </a:solidFill>
                <a:latin typeface="Calibri"/>
                <a:cs typeface="Calibri"/>
              </a:rPr>
              <a:t>together</a:t>
            </a:r>
            <a:r>
              <a:rPr sz="1350" b="1" spc="-1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gives</a:t>
            </a:r>
            <a:r>
              <a:rPr sz="135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better</a:t>
            </a:r>
            <a:r>
              <a:rPr sz="135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Calibri"/>
                <a:cs typeface="Calibri"/>
              </a:rPr>
              <a:t>security.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79300" cy="6851015"/>
          </a:xfrm>
          <a:custGeom>
            <a:avLst/>
            <a:gdLst/>
            <a:ahLst/>
            <a:cxnLst/>
            <a:rect l="l" t="t" r="r" b="b"/>
            <a:pathLst>
              <a:path w="12179300" h="6851015">
                <a:moveTo>
                  <a:pt x="12179299" y="6850856"/>
                </a:moveTo>
                <a:lnTo>
                  <a:pt x="0" y="6850856"/>
                </a:lnTo>
                <a:lnTo>
                  <a:pt x="0" y="0"/>
                </a:lnTo>
                <a:lnTo>
                  <a:pt x="12179299" y="0"/>
                </a:lnTo>
                <a:lnTo>
                  <a:pt x="12179299" y="6850856"/>
                </a:lnTo>
                <a:close/>
              </a:path>
            </a:pathLst>
          </a:custGeom>
          <a:solidFill>
            <a:srgbClr val="0A1D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2552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CSA5110</a:t>
            </a:r>
            <a:r>
              <a:rPr spc="-15" dirty="0"/>
              <a:t> </a:t>
            </a:r>
            <a:r>
              <a:rPr dirty="0"/>
              <a:t>·</a:t>
            </a:r>
            <a:r>
              <a:rPr spc="-10" dirty="0"/>
              <a:t> Cryptography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</a:t>
            </a:r>
            <a:r>
              <a:rPr dirty="0"/>
              <a:t>Network</a:t>
            </a:r>
            <a:r>
              <a:rPr spc="-15" dirty="0"/>
              <a:t> </a:t>
            </a:r>
            <a:r>
              <a:rPr spc="-10" dirty="0"/>
              <a:t>Security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955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grpSp>
        <p:nvGrpSpPr>
          <p:cNvPr id="4" name="object 4"/>
          <p:cNvGrpSpPr/>
          <p:nvPr/>
        </p:nvGrpSpPr>
        <p:grpSpPr>
          <a:xfrm>
            <a:off x="10367628" y="456723"/>
            <a:ext cx="913765" cy="913765"/>
            <a:chOff x="10367628" y="456723"/>
            <a:chExt cx="913765" cy="913765"/>
          </a:xfrm>
        </p:grpSpPr>
        <p:sp>
          <p:nvSpPr>
            <p:cNvPr id="5" name="object 5"/>
            <p:cNvSpPr/>
            <p:nvPr/>
          </p:nvSpPr>
          <p:spPr>
            <a:xfrm>
              <a:off x="10367628" y="456723"/>
              <a:ext cx="913765" cy="913765"/>
            </a:xfrm>
            <a:custGeom>
              <a:avLst/>
              <a:gdLst/>
              <a:ahLst/>
              <a:cxnLst/>
              <a:rect l="l" t="t" r="r" b="b"/>
              <a:pathLst>
                <a:path w="913765" h="913765">
                  <a:moveTo>
                    <a:pt x="456723" y="913447"/>
                  </a:moveTo>
                  <a:lnTo>
                    <a:pt x="410026" y="911089"/>
                  </a:lnTo>
                  <a:lnTo>
                    <a:pt x="364678" y="904168"/>
                  </a:lnTo>
                  <a:lnTo>
                    <a:pt x="320908" y="892914"/>
                  </a:lnTo>
                  <a:lnTo>
                    <a:pt x="278946" y="877555"/>
                  </a:lnTo>
                  <a:lnTo>
                    <a:pt x="239022" y="858323"/>
                  </a:lnTo>
                  <a:lnTo>
                    <a:pt x="201365" y="835446"/>
                  </a:lnTo>
                  <a:lnTo>
                    <a:pt x="166205" y="809153"/>
                  </a:lnTo>
                  <a:lnTo>
                    <a:pt x="133771" y="779676"/>
                  </a:lnTo>
                  <a:lnTo>
                    <a:pt x="104293" y="747242"/>
                  </a:lnTo>
                  <a:lnTo>
                    <a:pt x="78001" y="712082"/>
                  </a:lnTo>
                  <a:lnTo>
                    <a:pt x="55124" y="674425"/>
                  </a:lnTo>
                  <a:lnTo>
                    <a:pt x="35891" y="634501"/>
                  </a:lnTo>
                  <a:lnTo>
                    <a:pt x="20533" y="592539"/>
                  </a:lnTo>
                  <a:lnTo>
                    <a:pt x="9279" y="548769"/>
                  </a:lnTo>
                  <a:lnTo>
                    <a:pt x="2358" y="503421"/>
                  </a:lnTo>
                  <a:lnTo>
                    <a:pt x="0" y="456723"/>
                  </a:lnTo>
                  <a:lnTo>
                    <a:pt x="2358" y="410026"/>
                  </a:lnTo>
                  <a:lnTo>
                    <a:pt x="9279" y="364677"/>
                  </a:lnTo>
                  <a:lnTo>
                    <a:pt x="20533" y="320908"/>
                  </a:lnTo>
                  <a:lnTo>
                    <a:pt x="35891" y="278946"/>
                  </a:lnTo>
                  <a:lnTo>
                    <a:pt x="55124" y="239022"/>
                  </a:lnTo>
                  <a:lnTo>
                    <a:pt x="78001" y="201365"/>
                  </a:lnTo>
                  <a:lnTo>
                    <a:pt x="104293" y="166205"/>
                  </a:lnTo>
                  <a:lnTo>
                    <a:pt x="133771" y="133771"/>
                  </a:lnTo>
                  <a:lnTo>
                    <a:pt x="166205" y="104293"/>
                  </a:lnTo>
                  <a:lnTo>
                    <a:pt x="201365" y="78001"/>
                  </a:lnTo>
                  <a:lnTo>
                    <a:pt x="239022" y="55124"/>
                  </a:lnTo>
                  <a:lnTo>
                    <a:pt x="278946" y="35891"/>
                  </a:lnTo>
                  <a:lnTo>
                    <a:pt x="320908" y="20533"/>
                  </a:lnTo>
                  <a:lnTo>
                    <a:pt x="364678" y="9279"/>
                  </a:lnTo>
                  <a:lnTo>
                    <a:pt x="410026" y="2358"/>
                  </a:lnTo>
                  <a:lnTo>
                    <a:pt x="456723" y="0"/>
                  </a:lnTo>
                  <a:lnTo>
                    <a:pt x="508258" y="2915"/>
                  </a:lnTo>
                  <a:lnTo>
                    <a:pt x="558739" y="11537"/>
                  </a:lnTo>
                  <a:lnTo>
                    <a:pt x="607717" y="25681"/>
                  </a:lnTo>
                  <a:lnTo>
                    <a:pt x="654748" y="45161"/>
                  </a:lnTo>
                  <a:lnTo>
                    <a:pt x="699382" y="69793"/>
                  </a:lnTo>
                  <a:lnTo>
                    <a:pt x="741174" y="99391"/>
                  </a:lnTo>
                  <a:lnTo>
                    <a:pt x="779676" y="133771"/>
                  </a:lnTo>
                  <a:lnTo>
                    <a:pt x="814055" y="172273"/>
                  </a:lnTo>
                  <a:lnTo>
                    <a:pt x="843653" y="214065"/>
                  </a:lnTo>
                  <a:lnTo>
                    <a:pt x="868285" y="258699"/>
                  </a:lnTo>
                  <a:lnTo>
                    <a:pt x="887766" y="305729"/>
                  </a:lnTo>
                  <a:lnTo>
                    <a:pt x="901910" y="354708"/>
                  </a:lnTo>
                  <a:lnTo>
                    <a:pt x="910532" y="405188"/>
                  </a:lnTo>
                  <a:lnTo>
                    <a:pt x="913447" y="456723"/>
                  </a:lnTo>
                  <a:lnTo>
                    <a:pt x="911089" y="503421"/>
                  </a:lnTo>
                  <a:lnTo>
                    <a:pt x="904168" y="548769"/>
                  </a:lnTo>
                  <a:lnTo>
                    <a:pt x="892914" y="592539"/>
                  </a:lnTo>
                  <a:lnTo>
                    <a:pt x="877555" y="634501"/>
                  </a:lnTo>
                  <a:lnTo>
                    <a:pt x="858323" y="674425"/>
                  </a:lnTo>
                  <a:lnTo>
                    <a:pt x="835446" y="712082"/>
                  </a:lnTo>
                  <a:lnTo>
                    <a:pt x="809154" y="747242"/>
                  </a:lnTo>
                  <a:lnTo>
                    <a:pt x="779676" y="779676"/>
                  </a:lnTo>
                  <a:lnTo>
                    <a:pt x="747242" y="809153"/>
                  </a:lnTo>
                  <a:lnTo>
                    <a:pt x="712082" y="835446"/>
                  </a:lnTo>
                  <a:lnTo>
                    <a:pt x="674425" y="858323"/>
                  </a:lnTo>
                  <a:lnTo>
                    <a:pt x="634501" y="877555"/>
                  </a:lnTo>
                  <a:lnTo>
                    <a:pt x="592539" y="892914"/>
                  </a:lnTo>
                  <a:lnTo>
                    <a:pt x="548769" y="904168"/>
                  </a:lnTo>
                  <a:lnTo>
                    <a:pt x="503421" y="911089"/>
                  </a:lnTo>
                  <a:lnTo>
                    <a:pt x="456723" y="913447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86855" y="675951"/>
              <a:ext cx="474992" cy="474992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30758" y="1507188"/>
            <a:ext cx="502920" cy="502920"/>
            <a:chOff x="730758" y="1507188"/>
            <a:chExt cx="502920" cy="502920"/>
          </a:xfrm>
        </p:grpSpPr>
        <p:sp>
          <p:nvSpPr>
            <p:cNvPr id="8" name="object 8"/>
            <p:cNvSpPr/>
            <p:nvPr/>
          </p:nvSpPr>
          <p:spPr>
            <a:xfrm>
              <a:off x="730758" y="1507188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198" y="502396"/>
                  </a:moveTo>
                  <a:lnTo>
                    <a:pt x="206044" y="498349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6" y="251198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1333" y="1627763"/>
              <a:ext cx="261245" cy="26124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30758" y="2164870"/>
            <a:ext cx="502920" cy="502920"/>
            <a:chOff x="730758" y="2164870"/>
            <a:chExt cx="502920" cy="502920"/>
          </a:xfrm>
        </p:grpSpPr>
        <p:sp>
          <p:nvSpPr>
            <p:cNvPr id="11" name="object 11"/>
            <p:cNvSpPr/>
            <p:nvPr/>
          </p:nvSpPr>
          <p:spPr>
            <a:xfrm>
              <a:off x="730758" y="2164870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19">
                  <a:moveTo>
                    <a:pt x="251198" y="502396"/>
                  </a:moveTo>
                  <a:lnTo>
                    <a:pt x="206044" y="498349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5"/>
                  </a:lnTo>
                  <a:lnTo>
                    <a:pt x="15715" y="163547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3"/>
                  </a:lnTo>
                  <a:lnTo>
                    <a:pt x="502396" y="251198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9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1333" y="2285446"/>
              <a:ext cx="261245" cy="261245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730758" y="2822552"/>
            <a:ext cx="502920" cy="502920"/>
            <a:chOff x="730758" y="2822552"/>
            <a:chExt cx="502920" cy="502920"/>
          </a:xfrm>
        </p:grpSpPr>
        <p:sp>
          <p:nvSpPr>
            <p:cNvPr id="14" name="object 14"/>
            <p:cNvSpPr/>
            <p:nvPr/>
          </p:nvSpPr>
          <p:spPr>
            <a:xfrm>
              <a:off x="730758" y="2822552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198" y="502396"/>
                  </a:moveTo>
                  <a:lnTo>
                    <a:pt x="206044" y="498348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6" y="251198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8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333" y="2943128"/>
              <a:ext cx="261245" cy="261245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730758" y="3480234"/>
            <a:ext cx="502920" cy="502920"/>
            <a:chOff x="730758" y="3480234"/>
            <a:chExt cx="502920" cy="502920"/>
          </a:xfrm>
        </p:grpSpPr>
        <p:sp>
          <p:nvSpPr>
            <p:cNvPr id="17" name="object 17"/>
            <p:cNvSpPr/>
            <p:nvPr/>
          </p:nvSpPr>
          <p:spPr>
            <a:xfrm>
              <a:off x="730758" y="3480234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198" y="502396"/>
                  </a:moveTo>
                  <a:lnTo>
                    <a:pt x="206044" y="498348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7"/>
                  </a:lnTo>
                  <a:lnTo>
                    <a:pt x="4047" y="206044"/>
                  </a:lnTo>
                  <a:lnTo>
                    <a:pt x="15715" y="163546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2"/>
                  </a:lnTo>
                  <a:lnTo>
                    <a:pt x="502396" y="251197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8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1333" y="3600810"/>
              <a:ext cx="261245" cy="26124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730758" y="4137917"/>
            <a:ext cx="502920" cy="502920"/>
            <a:chOff x="730758" y="4137917"/>
            <a:chExt cx="502920" cy="502920"/>
          </a:xfrm>
        </p:grpSpPr>
        <p:sp>
          <p:nvSpPr>
            <p:cNvPr id="20" name="object 20"/>
            <p:cNvSpPr/>
            <p:nvPr/>
          </p:nvSpPr>
          <p:spPr>
            <a:xfrm>
              <a:off x="730758" y="4137917"/>
              <a:ext cx="502920" cy="502920"/>
            </a:xfrm>
            <a:custGeom>
              <a:avLst/>
              <a:gdLst/>
              <a:ahLst/>
              <a:cxnLst/>
              <a:rect l="l" t="t" r="r" b="b"/>
              <a:pathLst>
                <a:path w="502919" h="502920">
                  <a:moveTo>
                    <a:pt x="251198" y="502396"/>
                  </a:moveTo>
                  <a:lnTo>
                    <a:pt x="206044" y="498348"/>
                  </a:lnTo>
                  <a:lnTo>
                    <a:pt x="163546" y="486680"/>
                  </a:lnTo>
                  <a:lnTo>
                    <a:pt x="124413" y="468100"/>
                  </a:lnTo>
                  <a:lnTo>
                    <a:pt x="89354" y="443317"/>
                  </a:lnTo>
                  <a:lnTo>
                    <a:pt x="59078" y="413041"/>
                  </a:lnTo>
                  <a:lnTo>
                    <a:pt x="34295" y="377982"/>
                  </a:lnTo>
                  <a:lnTo>
                    <a:pt x="15715" y="338849"/>
                  </a:lnTo>
                  <a:lnTo>
                    <a:pt x="4047" y="296351"/>
                  </a:lnTo>
                  <a:lnTo>
                    <a:pt x="0" y="251198"/>
                  </a:lnTo>
                  <a:lnTo>
                    <a:pt x="4047" y="206045"/>
                  </a:lnTo>
                  <a:lnTo>
                    <a:pt x="15715" y="163547"/>
                  </a:lnTo>
                  <a:lnTo>
                    <a:pt x="34295" y="124413"/>
                  </a:lnTo>
                  <a:lnTo>
                    <a:pt x="59078" y="89354"/>
                  </a:lnTo>
                  <a:lnTo>
                    <a:pt x="89354" y="59078"/>
                  </a:lnTo>
                  <a:lnTo>
                    <a:pt x="124413" y="34295"/>
                  </a:lnTo>
                  <a:lnTo>
                    <a:pt x="163546" y="15715"/>
                  </a:lnTo>
                  <a:lnTo>
                    <a:pt x="206044" y="4047"/>
                  </a:lnTo>
                  <a:lnTo>
                    <a:pt x="251198" y="0"/>
                  </a:lnTo>
                  <a:lnTo>
                    <a:pt x="300433" y="4871"/>
                  </a:lnTo>
                  <a:lnTo>
                    <a:pt x="347327" y="19121"/>
                  </a:lnTo>
                  <a:lnTo>
                    <a:pt x="390562" y="42204"/>
                  </a:lnTo>
                  <a:lnTo>
                    <a:pt x="428821" y="73574"/>
                  </a:lnTo>
                  <a:lnTo>
                    <a:pt x="460191" y="111833"/>
                  </a:lnTo>
                  <a:lnTo>
                    <a:pt x="483274" y="155068"/>
                  </a:lnTo>
                  <a:lnTo>
                    <a:pt x="497524" y="201963"/>
                  </a:lnTo>
                  <a:lnTo>
                    <a:pt x="502396" y="251198"/>
                  </a:lnTo>
                  <a:lnTo>
                    <a:pt x="498349" y="296351"/>
                  </a:lnTo>
                  <a:lnTo>
                    <a:pt x="486680" y="338849"/>
                  </a:lnTo>
                  <a:lnTo>
                    <a:pt x="468100" y="377982"/>
                  </a:lnTo>
                  <a:lnTo>
                    <a:pt x="443317" y="413041"/>
                  </a:lnTo>
                  <a:lnTo>
                    <a:pt x="413041" y="443317"/>
                  </a:lnTo>
                  <a:lnTo>
                    <a:pt x="377982" y="468100"/>
                  </a:lnTo>
                  <a:lnTo>
                    <a:pt x="338849" y="486680"/>
                  </a:lnTo>
                  <a:lnTo>
                    <a:pt x="296351" y="498348"/>
                  </a:lnTo>
                  <a:lnTo>
                    <a:pt x="251198" y="502396"/>
                  </a:lnTo>
                  <a:close/>
                </a:path>
              </a:pathLst>
            </a:custGeom>
            <a:solidFill>
              <a:srgbClr val="00D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51333" y="4258492"/>
              <a:ext cx="261245" cy="261245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494473" y="1620404"/>
            <a:ext cx="3493135" cy="28924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Substitution</a:t>
            </a:r>
            <a:r>
              <a:rPr sz="1550" spc="-50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changes</a:t>
            </a:r>
            <a:r>
              <a:rPr sz="1550" spc="-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D9FF"/>
                </a:solidFill>
                <a:latin typeface="Calibri"/>
                <a:cs typeface="Calibri"/>
              </a:rPr>
              <a:t>letters</a:t>
            </a:r>
            <a:r>
              <a:rPr sz="1550" spc="-10" dirty="0">
                <a:solidFill>
                  <a:srgbClr val="E7F0FA"/>
                </a:solidFill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  <a:p>
            <a:pPr marL="12700" marR="370205">
              <a:lnSpc>
                <a:spcPct val="278400"/>
              </a:lnSpc>
            </a:pPr>
            <a:r>
              <a:rPr sz="1550" spc="-10" dirty="0">
                <a:solidFill>
                  <a:srgbClr val="E7F0FA"/>
                </a:solidFill>
                <a:latin typeface="Calibri"/>
                <a:cs typeface="Calibri"/>
              </a:rPr>
              <a:t>Transposition</a:t>
            </a:r>
            <a:r>
              <a:rPr sz="1550" spc="-3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changes</a:t>
            </a:r>
            <a:r>
              <a:rPr sz="1550" spc="3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D9FF"/>
                </a:solidFill>
                <a:latin typeface="Calibri"/>
                <a:cs typeface="Calibri"/>
              </a:rPr>
              <a:t>letter</a:t>
            </a:r>
            <a:r>
              <a:rPr sz="1550" b="1" spc="-3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D9FF"/>
                </a:solidFill>
                <a:latin typeface="Calibri"/>
                <a:cs typeface="Calibri"/>
              </a:rPr>
              <a:t>positions</a:t>
            </a:r>
            <a:r>
              <a:rPr sz="1550" spc="-10" dirty="0">
                <a:solidFill>
                  <a:srgbClr val="E7F0FA"/>
                </a:solidFill>
                <a:latin typeface="Calibri"/>
                <a:cs typeface="Calibri"/>
              </a:rPr>
              <a:t>.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Both</a:t>
            </a:r>
            <a:r>
              <a:rPr sz="1550" spc="-40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improve</a:t>
            </a:r>
            <a:r>
              <a:rPr sz="1550" spc="-40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spc="-10" dirty="0">
                <a:solidFill>
                  <a:srgbClr val="E7F0FA"/>
                </a:solidFill>
                <a:latin typeface="Calibri"/>
                <a:cs typeface="Calibri"/>
              </a:rPr>
              <a:t>security.</a:t>
            </a:r>
            <a:endParaRPr sz="1550">
              <a:latin typeface="Calibri"/>
              <a:cs typeface="Calibri"/>
            </a:endParaRPr>
          </a:p>
          <a:p>
            <a:pPr marL="12700" marR="5080">
              <a:lnSpc>
                <a:spcPct val="278400"/>
              </a:lnSpc>
              <a:spcBef>
                <a:spcPts val="5"/>
              </a:spcBef>
            </a:pPr>
            <a:r>
              <a:rPr sz="1550" spc="-20" dirty="0">
                <a:solidFill>
                  <a:srgbClr val="E7F0FA"/>
                </a:solidFill>
                <a:latin typeface="Calibri"/>
                <a:cs typeface="Calibri"/>
              </a:rPr>
              <a:t>Together</a:t>
            </a:r>
            <a:r>
              <a:rPr sz="1550" spc="-3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they</a:t>
            </a:r>
            <a:r>
              <a:rPr sz="1550" spc="-3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provide</a:t>
            </a:r>
            <a:r>
              <a:rPr sz="1550" spc="20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D9FF"/>
                </a:solidFill>
                <a:latin typeface="Calibri"/>
                <a:cs typeface="Calibri"/>
              </a:rPr>
              <a:t>stronger</a:t>
            </a:r>
            <a:r>
              <a:rPr sz="1550" b="1" spc="-3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D9FF"/>
                </a:solidFill>
                <a:latin typeface="Calibri"/>
                <a:cs typeface="Calibri"/>
              </a:rPr>
              <a:t>encryption</a:t>
            </a:r>
            <a:r>
              <a:rPr sz="1550" spc="-10" dirty="0">
                <a:solidFill>
                  <a:srgbClr val="E7F0FA"/>
                </a:solidFill>
                <a:latin typeface="Calibri"/>
                <a:cs typeface="Calibri"/>
              </a:rPr>
              <a:t>.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Modern</a:t>
            </a:r>
            <a:r>
              <a:rPr sz="1550" spc="-1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encryption</a:t>
            </a:r>
            <a:r>
              <a:rPr sz="1550" spc="-1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dirty="0">
                <a:solidFill>
                  <a:srgbClr val="E7F0FA"/>
                </a:solidFill>
                <a:latin typeface="Calibri"/>
                <a:cs typeface="Calibri"/>
              </a:rPr>
              <a:t>uses</a:t>
            </a:r>
            <a:r>
              <a:rPr sz="1550" spc="45" dirty="0">
                <a:solidFill>
                  <a:srgbClr val="E7F0FA"/>
                </a:solidFill>
                <a:latin typeface="Calibri"/>
                <a:cs typeface="Calibri"/>
              </a:rPr>
              <a:t> </a:t>
            </a:r>
            <a:r>
              <a:rPr sz="1550" b="1" dirty="0">
                <a:solidFill>
                  <a:srgbClr val="00D9FF"/>
                </a:solidFill>
                <a:latin typeface="Calibri"/>
                <a:cs typeface="Calibri"/>
              </a:rPr>
              <a:t>both</a:t>
            </a:r>
            <a:r>
              <a:rPr sz="1550" b="1" spc="-15" dirty="0">
                <a:solidFill>
                  <a:srgbClr val="00D9FF"/>
                </a:solidFill>
                <a:latin typeface="Calibri"/>
                <a:cs typeface="Calibri"/>
              </a:rPr>
              <a:t> </a:t>
            </a:r>
            <a:r>
              <a:rPr sz="1550" b="1" spc="-10" dirty="0">
                <a:solidFill>
                  <a:srgbClr val="00D9FF"/>
                </a:solidFill>
                <a:latin typeface="Calibri"/>
                <a:cs typeface="Calibri"/>
              </a:rPr>
              <a:t>ideas</a:t>
            </a:r>
            <a:r>
              <a:rPr sz="1550" spc="-10" dirty="0">
                <a:solidFill>
                  <a:srgbClr val="E7F0FA"/>
                </a:solidFill>
                <a:latin typeface="Calibri"/>
                <a:cs typeface="Calibri"/>
              </a:rPr>
              <a:t>.</a:t>
            </a:r>
            <a:endParaRPr sz="1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326</Words>
  <Application>Microsoft Office PowerPoint</Application>
  <PresentationFormat>Custom</PresentationFormat>
  <Paragraphs>80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Cambria</vt:lpstr>
      <vt:lpstr>Courier New</vt:lpstr>
      <vt:lpstr>Office Theme</vt:lpstr>
      <vt:lpstr>SUBSTITUTION vs TRANSPOSITION</vt:lpstr>
      <vt:lpstr>What is Encryption?</vt:lpstr>
      <vt:lpstr>Substitution Cipher</vt:lpstr>
      <vt:lpstr>Transposition Cipher</vt:lpstr>
      <vt:lpstr>Substitution vs Transposition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ruthish peddagani</cp:lastModifiedBy>
  <cp:revision>1</cp:revision>
  <dcterms:created xsi:type="dcterms:W3CDTF">2026-07-31T06:03:41Z</dcterms:created>
  <dcterms:modified xsi:type="dcterms:W3CDTF">2026-07-31T06:06:43Z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2026-07-31T00:00:00Z</vt:filetime>
  </property>
  <property fmtid="{D5CDD505-2E9C-101B-9397-08002B2CF9AE}" pid="4" name="Producer">
    <vt:lpwstr>Skia/PDF m136</vt:lpwstr>
  </property>
  <property fmtid="{D5CDD505-2E9C-101B-9397-08002B2CF9AE}" pid="5" name="LastSaved">
    <vt:filetime>2026-07-31T00:00:00Z</vt:filetime>
  </property>
</Properties>
</file>